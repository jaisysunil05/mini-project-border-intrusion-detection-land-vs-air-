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79" r:id="rId4"/>
    <p:sldId id="258" r:id="rId5"/>
    <p:sldId id="259" r:id="rId6"/>
    <p:sldId id="260" r:id="rId7"/>
    <p:sldId id="261" r:id="rId8"/>
    <p:sldId id="278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90" autoAdjust="0"/>
    <p:restoredTop sz="94660"/>
  </p:normalViewPr>
  <p:slideViewPr>
    <p:cSldViewPr>
      <p:cViewPr varScale="1">
        <p:scale>
          <a:sx n="90" d="100"/>
          <a:sy n="90" d="100"/>
        </p:scale>
        <p:origin x="403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 u="sng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 u="sng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 u="sng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 u="sng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png"/><Relationship Id="rId18" Type="http://schemas.openxmlformats.org/officeDocument/2006/relationships/image" Target="../media/image12.png"/><Relationship Id="rId26" Type="http://schemas.openxmlformats.org/officeDocument/2006/relationships/image" Target="../media/image20.png"/><Relationship Id="rId39" Type="http://schemas.openxmlformats.org/officeDocument/2006/relationships/image" Target="../media/image33.png"/><Relationship Id="rId21" Type="http://schemas.openxmlformats.org/officeDocument/2006/relationships/image" Target="../media/image15.png"/><Relationship Id="rId34" Type="http://schemas.openxmlformats.org/officeDocument/2006/relationships/image" Target="../media/image28.png"/><Relationship Id="rId42" Type="http://schemas.openxmlformats.org/officeDocument/2006/relationships/image" Target="../media/image36.png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png"/><Relationship Id="rId20" Type="http://schemas.openxmlformats.org/officeDocument/2006/relationships/image" Target="../media/image14.png"/><Relationship Id="rId29" Type="http://schemas.openxmlformats.org/officeDocument/2006/relationships/image" Target="../media/image23.png"/><Relationship Id="rId41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24" Type="http://schemas.openxmlformats.org/officeDocument/2006/relationships/image" Target="../media/image18.png"/><Relationship Id="rId32" Type="http://schemas.openxmlformats.org/officeDocument/2006/relationships/image" Target="../media/image26.png"/><Relationship Id="rId37" Type="http://schemas.openxmlformats.org/officeDocument/2006/relationships/image" Target="../media/image31.png"/><Relationship Id="rId40" Type="http://schemas.openxmlformats.org/officeDocument/2006/relationships/image" Target="../media/image34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9.png"/><Relationship Id="rId23" Type="http://schemas.openxmlformats.org/officeDocument/2006/relationships/image" Target="../media/image17.png"/><Relationship Id="rId28" Type="http://schemas.openxmlformats.org/officeDocument/2006/relationships/image" Target="../media/image22.png"/><Relationship Id="rId36" Type="http://schemas.openxmlformats.org/officeDocument/2006/relationships/image" Target="../media/image30.png"/><Relationship Id="rId10" Type="http://schemas.openxmlformats.org/officeDocument/2006/relationships/image" Target="../media/image4.png"/><Relationship Id="rId19" Type="http://schemas.openxmlformats.org/officeDocument/2006/relationships/image" Target="../media/image13.png"/><Relationship Id="rId31" Type="http://schemas.openxmlformats.org/officeDocument/2006/relationships/image" Target="../media/image25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Relationship Id="rId14" Type="http://schemas.openxmlformats.org/officeDocument/2006/relationships/image" Target="../media/image8.png"/><Relationship Id="rId22" Type="http://schemas.openxmlformats.org/officeDocument/2006/relationships/image" Target="../media/image16.png"/><Relationship Id="rId27" Type="http://schemas.openxmlformats.org/officeDocument/2006/relationships/image" Target="../media/image21.png"/><Relationship Id="rId30" Type="http://schemas.openxmlformats.org/officeDocument/2006/relationships/image" Target="../media/image24.png"/><Relationship Id="rId35" Type="http://schemas.openxmlformats.org/officeDocument/2006/relationships/image" Target="../media/image29.png"/><Relationship Id="rId43" Type="http://schemas.openxmlformats.org/officeDocument/2006/relationships/image" Target="../media/image37.png"/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5" Type="http://schemas.openxmlformats.org/officeDocument/2006/relationships/image" Target="../media/image19.png"/><Relationship Id="rId33" Type="http://schemas.openxmlformats.org/officeDocument/2006/relationships/image" Target="../media/image27.png"/><Relationship Id="rId38" Type="http://schemas.openxmlformats.org/officeDocument/2006/relationships/image" Target="../media/image3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4300" y="9525"/>
            <a:ext cx="28575" cy="218122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575" y="2181225"/>
            <a:ext cx="190500" cy="1905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8575" y="4019550"/>
            <a:ext cx="190500" cy="1905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00025" y="9525"/>
            <a:ext cx="371475" cy="180975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4825" y="1800225"/>
            <a:ext cx="190500" cy="19050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85750" y="9525"/>
            <a:ext cx="371475" cy="1428750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42925" y="0"/>
            <a:ext cx="152400" cy="914400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90550" y="1419225"/>
            <a:ext cx="190500" cy="190500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90550" y="904875"/>
            <a:ext cx="190500" cy="190500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38175" y="0"/>
            <a:ext cx="428625" cy="523875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026318" y="485775"/>
            <a:ext cx="147637" cy="152400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9525" y="1800225"/>
            <a:ext cx="123825" cy="133350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0" y="3552825"/>
            <a:ext cx="142875" cy="476250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23825" y="1381125"/>
            <a:ext cx="142875" cy="476250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00025" y="1847850"/>
            <a:ext cx="114300" cy="114300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33350" y="4667250"/>
            <a:ext cx="28575" cy="2181225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219075" y="5038725"/>
            <a:ext cx="371475" cy="1809750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47625" y="4486275"/>
            <a:ext cx="190500" cy="190500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0" y="5629275"/>
            <a:ext cx="66675" cy="1219200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523875" y="4867275"/>
            <a:ext cx="190500" cy="190500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04800" y="5419725"/>
            <a:ext cx="381000" cy="1428750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571500" y="5943600"/>
            <a:ext cx="152400" cy="914400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609600" y="5248275"/>
            <a:ext cx="190500" cy="190500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609600" y="5762625"/>
            <a:ext cx="190500" cy="190500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666750" y="6334125"/>
            <a:ext cx="419100" cy="514350"/>
          </a:xfrm>
          <a:prstGeom prst="rect">
            <a:avLst/>
          </a:prstGeom>
        </p:spPr>
      </p:pic>
      <p:pic>
        <p:nvPicPr>
          <p:cNvPr id="42" name="bg object 42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047750" y="6219825"/>
            <a:ext cx="154564" cy="152400"/>
          </a:xfrm>
          <a:prstGeom prst="rect">
            <a:avLst/>
          </a:prstGeom>
        </p:spPr>
      </p:pic>
      <p:pic>
        <p:nvPicPr>
          <p:cNvPr id="43" name="bg object 43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1487150" y="0"/>
            <a:ext cx="419100" cy="514350"/>
          </a:xfrm>
          <a:prstGeom prst="rect">
            <a:avLst/>
          </a:prstGeom>
        </p:spPr>
      </p:pic>
      <p:pic>
        <p:nvPicPr>
          <p:cNvPr id="44" name="bg object 44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11370703" y="476250"/>
            <a:ext cx="154546" cy="152400"/>
          </a:xfrm>
          <a:prstGeom prst="rect">
            <a:avLst/>
          </a:prstGeom>
        </p:spPr>
      </p:pic>
      <p:pic>
        <p:nvPicPr>
          <p:cNvPr id="45" name="bg object 45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1630025" y="1543050"/>
            <a:ext cx="190500" cy="190500"/>
          </a:xfrm>
          <a:prstGeom prst="rect">
            <a:avLst/>
          </a:prstGeom>
        </p:spPr>
      </p:pic>
      <p:pic>
        <p:nvPicPr>
          <p:cNvPr id="46" name="bg object 46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1534775" y="5695950"/>
            <a:ext cx="295275" cy="1152525"/>
          </a:xfrm>
          <a:prstGeom prst="rect">
            <a:avLst/>
          </a:prstGeom>
        </p:spPr>
      </p:pic>
      <p:pic>
        <p:nvPicPr>
          <p:cNvPr id="47" name="bg object 47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1772900" y="5553075"/>
            <a:ext cx="161925" cy="152400"/>
          </a:xfrm>
          <a:prstGeom prst="rect">
            <a:avLst/>
          </a:prstGeom>
        </p:spPr>
      </p:pic>
      <p:pic>
        <p:nvPicPr>
          <p:cNvPr id="48" name="bg object 48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11706225" y="9525"/>
            <a:ext cx="304800" cy="1543050"/>
          </a:xfrm>
          <a:prstGeom prst="rect">
            <a:avLst/>
          </a:prstGeom>
        </p:spPr>
      </p:pic>
      <p:pic>
        <p:nvPicPr>
          <p:cNvPr id="49" name="bg object 49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1639550" y="4867275"/>
            <a:ext cx="190500" cy="190500"/>
          </a:xfrm>
          <a:prstGeom prst="rect">
            <a:avLst/>
          </a:prstGeom>
        </p:spPr>
      </p:pic>
      <p:pic>
        <p:nvPicPr>
          <p:cNvPr id="50" name="bg object 50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11439525" y="5048250"/>
            <a:ext cx="304800" cy="1800225"/>
          </a:xfrm>
          <a:prstGeom prst="rect">
            <a:avLst/>
          </a:prstGeom>
        </p:spPr>
      </p:pic>
      <p:pic>
        <p:nvPicPr>
          <p:cNvPr id="51" name="bg object 51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11849100" y="6419850"/>
            <a:ext cx="190500" cy="190500"/>
          </a:xfrm>
          <a:prstGeom prst="rect">
            <a:avLst/>
          </a:prstGeom>
        </p:spPr>
      </p:pic>
      <p:pic>
        <p:nvPicPr>
          <p:cNvPr id="52" name="bg object 52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11934825" y="6600825"/>
            <a:ext cx="28575" cy="2476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1105" y="1023238"/>
            <a:ext cx="8966835" cy="575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 u="sng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21105" y="2217684"/>
            <a:ext cx="6028690" cy="3760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6.png"/><Relationship Id="rId18" Type="http://schemas.openxmlformats.org/officeDocument/2006/relationships/image" Target="../media/image49.png"/><Relationship Id="rId26" Type="http://schemas.openxmlformats.org/officeDocument/2006/relationships/image" Target="../media/image57.png"/><Relationship Id="rId39" Type="http://schemas.openxmlformats.org/officeDocument/2006/relationships/image" Target="../media/image69.png"/><Relationship Id="rId21" Type="http://schemas.openxmlformats.org/officeDocument/2006/relationships/image" Target="../media/image52.png"/><Relationship Id="rId34" Type="http://schemas.openxmlformats.org/officeDocument/2006/relationships/image" Target="../media/image65.png"/><Relationship Id="rId42" Type="http://schemas.openxmlformats.org/officeDocument/2006/relationships/image" Target="../media/image72.png"/><Relationship Id="rId7" Type="http://schemas.openxmlformats.org/officeDocument/2006/relationships/image" Target="../media/image40.png"/><Relationship Id="rId2" Type="http://schemas.openxmlformats.org/officeDocument/2006/relationships/image" Target="../media/image1.png"/><Relationship Id="rId16" Type="http://schemas.openxmlformats.org/officeDocument/2006/relationships/image" Target="../media/image12.png"/><Relationship Id="rId20" Type="http://schemas.openxmlformats.org/officeDocument/2006/relationships/image" Target="../media/image51.png"/><Relationship Id="rId29" Type="http://schemas.openxmlformats.org/officeDocument/2006/relationships/image" Target="../media/image60.png"/><Relationship Id="rId41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24" Type="http://schemas.openxmlformats.org/officeDocument/2006/relationships/image" Target="../media/image55.png"/><Relationship Id="rId32" Type="http://schemas.openxmlformats.org/officeDocument/2006/relationships/image" Target="../media/image63.png"/><Relationship Id="rId37" Type="http://schemas.openxmlformats.org/officeDocument/2006/relationships/image" Target="../media/image15.png"/><Relationship Id="rId40" Type="http://schemas.openxmlformats.org/officeDocument/2006/relationships/image" Target="../media/image70.png"/><Relationship Id="rId5" Type="http://schemas.openxmlformats.org/officeDocument/2006/relationships/image" Target="../media/image38.png"/><Relationship Id="rId15" Type="http://schemas.openxmlformats.org/officeDocument/2006/relationships/image" Target="../media/image47.png"/><Relationship Id="rId23" Type="http://schemas.openxmlformats.org/officeDocument/2006/relationships/image" Target="../media/image54.png"/><Relationship Id="rId28" Type="http://schemas.openxmlformats.org/officeDocument/2006/relationships/image" Target="../media/image59.png"/><Relationship Id="rId36" Type="http://schemas.openxmlformats.org/officeDocument/2006/relationships/image" Target="../media/image67.png"/><Relationship Id="rId10" Type="http://schemas.openxmlformats.org/officeDocument/2006/relationships/image" Target="../media/image43.png"/><Relationship Id="rId19" Type="http://schemas.openxmlformats.org/officeDocument/2006/relationships/image" Target="../media/image50.png"/><Relationship Id="rId31" Type="http://schemas.openxmlformats.org/officeDocument/2006/relationships/image" Target="../media/image62.png"/><Relationship Id="rId4" Type="http://schemas.openxmlformats.org/officeDocument/2006/relationships/image" Target="../media/image3.png"/><Relationship Id="rId9" Type="http://schemas.openxmlformats.org/officeDocument/2006/relationships/image" Target="../media/image42.png"/><Relationship Id="rId14" Type="http://schemas.openxmlformats.org/officeDocument/2006/relationships/image" Target="../media/image10.png"/><Relationship Id="rId22" Type="http://schemas.openxmlformats.org/officeDocument/2006/relationships/image" Target="../media/image53.png"/><Relationship Id="rId27" Type="http://schemas.openxmlformats.org/officeDocument/2006/relationships/image" Target="../media/image58.png"/><Relationship Id="rId30" Type="http://schemas.openxmlformats.org/officeDocument/2006/relationships/image" Target="../media/image61.png"/><Relationship Id="rId35" Type="http://schemas.openxmlformats.org/officeDocument/2006/relationships/image" Target="../media/image66.png"/><Relationship Id="rId43" Type="http://schemas.openxmlformats.org/officeDocument/2006/relationships/image" Target="../media/image73.png"/><Relationship Id="rId8" Type="http://schemas.openxmlformats.org/officeDocument/2006/relationships/image" Target="../media/image41.png"/><Relationship Id="rId3" Type="http://schemas.openxmlformats.org/officeDocument/2006/relationships/image" Target="../media/image2.png"/><Relationship Id="rId12" Type="http://schemas.openxmlformats.org/officeDocument/2006/relationships/image" Target="../media/image45.png"/><Relationship Id="rId17" Type="http://schemas.openxmlformats.org/officeDocument/2006/relationships/image" Target="../media/image48.png"/><Relationship Id="rId25" Type="http://schemas.openxmlformats.org/officeDocument/2006/relationships/image" Target="../media/image56.png"/><Relationship Id="rId33" Type="http://schemas.openxmlformats.org/officeDocument/2006/relationships/image" Target="../media/image64.png"/><Relationship Id="rId38" Type="http://schemas.openxmlformats.org/officeDocument/2006/relationships/image" Target="../media/image6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image" Target="../media/image85.jpg"/><Relationship Id="rId5" Type="http://schemas.openxmlformats.org/officeDocument/2006/relationships/image" Target="../media/image7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image" Target="../media/image89.jpg"/><Relationship Id="rId5" Type="http://schemas.openxmlformats.org/officeDocument/2006/relationships/image" Target="../media/image7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9675" y="9525"/>
              <a:ext cx="28575" cy="21812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3475" y="2181225"/>
              <a:ext cx="190500" cy="1905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23950" y="4019550"/>
              <a:ext cx="190500" cy="1905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9100" y="9525"/>
              <a:ext cx="28575" cy="448627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3375" y="4486275"/>
              <a:ext cx="190500" cy="1905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0500" y="9525"/>
              <a:ext cx="152400" cy="9048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95400" y="19050"/>
              <a:ext cx="371475" cy="180022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00200" y="1800225"/>
              <a:ext cx="190500" cy="1905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81125" y="9525"/>
              <a:ext cx="371475" cy="142875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47825" y="0"/>
              <a:ext cx="152400" cy="9144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85925" y="1419225"/>
              <a:ext cx="190500" cy="1905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85925" y="904875"/>
              <a:ext cx="190500" cy="1905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743075" y="9525"/>
              <a:ext cx="419100" cy="5143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131218" y="485775"/>
              <a:ext cx="147637" cy="1524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52500" y="9525"/>
              <a:ext cx="152400" cy="90487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66775" y="904875"/>
              <a:ext cx="190500" cy="1905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95350" y="1552575"/>
              <a:ext cx="190500" cy="1905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42950" y="5619750"/>
              <a:ext cx="333375" cy="12192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47700" y="5476875"/>
              <a:ext cx="161925" cy="16192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6675" y="904875"/>
              <a:ext cx="190500" cy="1905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0" y="3895725"/>
              <a:ext cx="133350" cy="2667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6675" y="4152900"/>
              <a:ext cx="190500" cy="1905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0" y="1647825"/>
              <a:ext cx="133350" cy="2667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6675" y="1466850"/>
              <a:ext cx="190500" cy="1905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95325" y="9525"/>
              <a:ext cx="314325" cy="155257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7150" y="4886325"/>
              <a:ext cx="190500" cy="18097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42875" y="5057775"/>
              <a:ext cx="304800" cy="178117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61975" y="6429375"/>
              <a:ext cx="190500" cy="1905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47700" y="6610350"/>
              <a:ext cx="19050" cy="24765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6200" y="6429375"/>
              <a:ext cx="190500" cy="1905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0" y="5981700"/>
              <a:ext cx="190500" cy="4572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019175" y="1800225"/>
              <a:ext cx="209550" cy="7620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42975" y="2552700"/>
              <a:ext cx="161925" cy="1524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600075" y="9525"/>
              <a:ext cx="638175" cy="401955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228725" y="1381125"/>
              <a:ext cx="142875" cy="47625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304925" y="1847850"/>
              <a:ext cx="104775" cy="1143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285750" y="3419475"/>
              <a:ext cx="142875" cy="47625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238125" y="3886200"/>
              <a:ext cx="114300" cy="104775"/>
            </a:xfrm>
            <a:prstGeom prst="rect">
              <a:avLst/>
            </a:prstGeom>
          </p:spPr>
        </p:pic>
      </p:grpSp>
      <p:pic>
        <p:nvPicPr>
          <p:cNvPr id="42" name="object 42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9525" y="2066925"/>
            <a:ext cx="152400" cy="552450"/>
          </a:xfrm>
          <a:prstGeom prst="rect">
            <a:avLst/>
          </a:prstGeom>
        </p:spPr>
      </p:pic>
      <p:grpSp>
        <p:nvGrpSpPr>
          <p:cNvPr id="43" name="object 43"/>
          <p:cNvGrpSpPr/>
          <p:nvPr/>
        </p:nvGrpSpPr>
        <p:grpSpPr>
          <a:xfrm>
            <a:off x="504825" y="9525"/>
            <a:ext cx="1793875" cy="6848475"/>
            <a:chOff x="504825" y="9525"/>
            <a:chExt cx="1793875" cy="6848475"/>
          </a:xfrm>
        </p:grpSpPr>
        <p:pic>
          <p:nvPicPr>
            <p:cNvPr id="44" name="object 44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323975" y="4867275"/>
              <a:ext cx="974153" cy="1990725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504825" y="9525"/>
              <a:ext cx="838200" cy="6838950"/>
            </a:xfrm>
            <a:prstGeom prst="rect">
              <a:avLst/>
            </a:prstGeom>
          </p:spPr>
        </p:pic>
      </p:grpSp>
      <p:sp>
        <p:nvSpPr>
          <p:cNvPr id="46" name="object 46"/>
          <p:cNvSpPr txBox="1">
            <a:spLocks noGrp="1"/>
          </p:cNvSpPr>
          <p:nvPr>
            <p:ph type="title"/>
          </p:nvPr>
        </p:nvSpPr>
        <p:spPr>
          <a:xfrm>
            <a:off x="1956816" y="1373568"/>
            <a:ext cx="7980680" cy="209801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 marR="5080" algn="just">
              <a:lnSpc>
                <a:spcPts val="5180"/>
              </a:lnSpc>
              <a:spcBef>
                <a:spcPts val="760"/>
              </a:spcBef>
            </a:pPr>
            <a:r>
              <a:rPr sz="4800" b="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>
                  <a:solidFill>
                    <a:srgbClr val="FFFFFF"/>
                  </a:solidFill>
                </a:uFill>
              </a:rPr>
              <a:t>MULTI-SENSOR BORDER TREAT</a:t>
            </a:r>
            <a:r>
              <a:rPr sz="4800" b="0" u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sz="4800" b="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>
                  <a:solidFill>
                    <a:srgbClr val="FFFFFF"/>
                  </a:solidFill>
                </a:uFill>
              </a:rPr>
              <a:t>DETECTION &amp; CLASSIFICATION</a:t>
            </a:r>
            <a:r>
              <a:rPr sz="4800" b="0" u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sz="4800" b="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>
                  <a:solidFill>
                    <a:srgbClr val="FFFFFF"/>
                  </a:solidFill>
                </a:uFill>
              </a:rPr>
              <a:t>SYSTEM</a:t>
            </a:r>
            <a:endParaRPr sz="4800" b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343518" y="3836898"/>
            <a:ext cx="3515107" cy="238610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2000" b="1" spc="-200" dirty="0">
                <a:solidFill>
                  <a:srgbClr val="FFFFFF"/>
                </a:solidFill>
                <a:latin typeface="Arial"/>
                <a:cs typeface="Arial"/>
              </a:rPr>
              <a:t>PRESENTED BY;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endParaRPr lang="en-IN" sz="2000" b="1" spc="-20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200" dirty="0">
                <a:solidFill>
                  <a:srgbClr val="FFFFFF"/>
                </a:solidFill>
                <a:latin typeface="Arial"/>
                <a:cs typeface="Arial"/>
              </a:rPr>
              <a:t>JAISY</a:t>
            </a:r>
            <a:r>
              <a:rPr sz="20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SUNIL</a:t>
            </a:r>
            <a:endParaRPr sz="2000" dirty="0">
              <a:latin typeface="Arial"/>
              <a:cs typeface="Arial"/>
            </a:endParaRPr>
          </a:p>
          <a:p>
            <a:pPr marL="12700" marR="5080">
              <a:lnSpc>
                <a:spcPct val="161200"/>
              </a:lnSpc>
              <a:spcBef>
                <a:spcPts val="35"/>
              </a:spcBef>
            </a:pPr>
            <a:r>
              <a:rPr sz="2000" b="1" spc="-254" dirty="0">
                <a:solidFill>
                  <a:srgbClr val="FFFFFF"/>
                </a:solidFill>
                <a:latin typeface="Arial"/>
                <a:cs typeface="Arial"/>
              </a:rPr>
              <a:t>JACOB</a:t>
            </a:r>
            <a:r>
              <a:rPr sz="20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THOMAS</a:t>
            </a:r>
            <a:endParaRPr lang="en-IN" sz="2000" b="1" spc="-1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2700" marR="5080">
              <a:lnSpc>
                <a:spcPct val="161200"/>
              </a:lnSpc>
              <a:spcBef>
                <a:spcPts val="35"/>
              </a:spcBef>
            </a:pP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90" dirty="0">
                <a:solidFill>
                  <a:srgbClr val="FFFFFF"/>
                </a:solidFill>
                <a:latin typeface="Arial"/>
                <a:cs typeface="Arial"/>
              </a:rPr>
              <a:t>HRIDHYA</a:t>
            </a:r>
            <a:r>
              <a:rPr sz="20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65" dirty="0">
                <a:solidFill>
                  <a:srgbClr val="FFFFFF"/>
                </a:solidFill>
                <a:latin typeface="Arial"/>
                <a:cs typeface="Arial"/>
              </a:rPr>
              <a:t>KRISHNA</a:t>
            </a:r>
            <a:endParaRPr lang="en-IN" sz="2000" b="1" spc="-165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2700" marR="5080">
              <a:lnSpc>
                <a:spcPct val="161200"/>
              </a:lnSpc>
              <a:spcBef>
                <a:spcPts val="35"/>
              </a:spcBef>
            </a:pPr>
            <a:r>
              <a:rPr sz="2000" b="1" spc="-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315" dirty="0">
                <a:solidFill>
                  <a:srgbClr val="FFFFFF"/>
                </a:solidFill>
                <a:latin typeface="Arial"/>
                <a:cs typeface="Arial"/>
              </a:rPr>
              <a:t>ABEL</a:t>
            </a:r>
            <a:r>
              <a:rPr sz="20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295" dirty="0">
                <a:solidFill>
                  <a:srgbClr val="FFFFFF"/>
                </a:solidFill>
                <a:latin typeface="Arial"/>
                <a:cs typeface="Arial"/>
              </a:rPr>
              <a:t>YESUDAS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B92CE05-2500-D97D-89C0-E25B960CCCD8}"/>
              </a:ext>
            </a:extLst>
          </p:cNvPr>
          <p:cNvSpPr txBox="1"/>
          <p:nvPr/>
        </p:nvSpPr>
        <p:spPr>
          <a:xfrm>
            <a:off x="2384520" y="5273814"/>
            <a:ext cx="289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GROUP 13</a:t>
            </a:r>
            <a:endParaRPr lang="en-IN" sz="40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1105" y="2217684"/>
            <a:ext cx="9029065" cy="3731791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260"/>
              </a:spcBef>
              <a:buSzPct val="125000"/>
              <a:buFont typeface="Arial MT"/>
              <a:buAutoNum type="arabicPeriod"/>
              <a:tabLst>
                <a:tab pos="469900" algn="l"/>
              </a:tabLst>
            </a:pPr>
            <a:r>
              <a:rPr sz="2400" spc="-120" dirty="0">
                <a:latin typeface="Arial MT"/>
                <a:cs typeface="Arial MT"/>
              </a:rPr>
              <a:t>Border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155" dirty="0">
                <a:latin typeface="Arial MT"/>
                <a:cs typeface="Arial MT"/>
              </a:rPr>
              <a:t>surveillance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215" dirty="0">
                <a:latin typeface="Arial MT"/>
                <a:cs typeface="Arial MT"/>
              </a:rPr>
              <a:t>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85" dirty="0">
                <a:latin typeface="Arial MT"/>
                <a:cs typeface="Arial MT"/>
              </a:rPr>
              <a:t>critical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135" dirty="0">
                <a:latin typeface="Arial MT"/>
                <a:cs typeface="Arial MT"/>
              </a:rPr>
              <a:t>requirement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145" dirty="0">
                <a:latin typeface="Arial MT"/>
                <a:cs typeface="Arial MT"/>
              </a:rPr>
              <a:t>in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70" dirty="0">
                <a:latin typeface="Arial MT"/>
                <a:cs typeface="Arial MT"/>
              </a:rPr>
              <a:t>modern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130" dirty="0">
                <a:latin typeface="Arial MT"/>
                <a:cs typeface="Arial MT"/>
              </a:rPr>
              <a:t>defence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65" dirty="0">
                <a:latin typeface="Arial MT"/>
                <a:cs typeface="Arial MT"/>
              </a:rPr>
              <a:t>systems</a:t>
            </a:r>
            <a:endParaRPr sz="2400" dirty="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835"/>
              </a:spcBef>
              <a:buSzPct val="125000"/>
              <a:buAutoNum type="arabicPeriod"/>
              <a:tabLst>
                <a:tab pos="469900" algn="l"/>
              </a:tabLst>
            </a:pPr>
            <a:r>
              <a:rPr sz="2400" spc="-190" dirty="0">
                <a:latin typeface="Arial MT"/>
                <a:cs typeface="Arial MT"/>
              </a:rPr>
              <a:t>Threats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can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0" dirty="0">
                <a:latin typeface="Arial MT"/>
                <a:cs typeface="Arial MT"/>
              </a:rPr>
              <a:t>enter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35" dirty="0">
                <a:latin typeface="Arial MT"/>
                <a:cs typeface="Arial MT"/>
              </a:rPr>
              <a:t>through: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  <a:buSzPct val="125000"/>
              <a:tabLst>
                <a:tab pos="469900" algn="l"/>
              </a:tabLst>
            </a:pPr>
            <a:r>
              <a:rPr lang="en-US" sz="2400" spc="-195" dirty="0">
                <a:latin typeface="Arial MT"/>
                <a:cs typeface="Arial MT"/>
              </a:rPr>
              <a:t>	</a:t>
            </a:r>
            <a:r>
              <a:rPr sz="2400" spc="-195" dirty="0">
                <a:latin typeface="Arial MT"/>
                <a:cs typeface="Arial MT"/>
              </a:rPr>
              <a:t>Land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sz="2400" spc="-254" dirty="0">
                <a:latin typeface="Arial MT"/>
                <a:cs typeface="Arial MT"/>
              </a:rPr>
              <a:t>(human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145" dirty="0">
                <a:latin typeface="Arial MT"/>
                <a:cs typeface="Arial MT"/>
              </a:rPr>
              <a:t>intruders,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60" dirty="0">
                <a:latin typeface="Arial MT"/>
                <a:cs typeface="Arial MT"/>
              </a:rPr>
              <a:t>vehicles)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  <a:buSzPct val="125000"/>
              <a:tabLst>
                <a:tab pos="469900" algn="l"/>
              </a:tabLst>
            </a:pPr>
            <a:r>
              <a:rPr lang="en-US" sz="2400" spc="-1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Air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85" dirty="0">
                <a:latin typeface="Arial MT"/>
                <a:cs typeface="Arial MT"/>
              </a:rPr>
              <a:t>(drones,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300" dirty="0">
                <a:latin typeface="Arial MT"/>
                <a:cs typeface="Arial MT"/>
              </a:rPr>
              <a:t>UAVs)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  <a:buSzPct val="125000"/>
              <a:tabLst>
                <a:tab pos="469900" algn="l"/>
              </a:tabLst>
            </a:pPr>
            <a:r>
              <a:rPr lang="en-US" sz="2400" spc="-105" dirty="0">
                <a:latin typeface="Arial MT"/>
                <a:cs typeface="Arial MT"/>
              </a:rPr>
              <a:t>3. </a:t>
            </a:r>
            <a:r>
              <a:rPr sz="2400" spc="-105" dirty="0">
                <a:latin typeface="Arial MT"/>
                <a:cs typeface="Arial MT"/>
              </a:rPr>
              <a:t>Traditional</a:t>
            </a:r>
            <a:r>
              <a:rPr sz="2400" spc="45" dirty="0">
                <a:latin typeface="Arial MT"/>
                <a:cs typeface="Arial MT"/>
              </a:rPr>
              <a:t> </a:t>
            </a:r>
            <a:r>
              <a:rPr sz="2400" spc="-130" dirty="0">
                <a:latin typeface="Arial MT"/>
                <a:cs typeface="Arial MT"/>
              </a:rPr>
              <a:t>single-</a:t>
            </a:r>
            <a:r>
              <a:rPr sz="2400" spc="-250" dirty="0">
                <a:latin typeface="Arial MT"/>
                <a:cs typeface="Arial MT"/>
              </a:rPr>
              <a:t>sensor</a:t>
            </a:r>
            <a:r>
              <a:rPr sz="2400" spc="75" dirty="0">
                <a:latin typeface="Arial MT"/>
                <a:cs typeface="Arial MT"/>
              </a:rPr>
              <a:t> </a:t>
            </a:r>
            <a:r>
              <a:rPr sz="2400" spc="-110" dirty="0">
                <a:latin typeface="Arial MT"/>
                <a:cs typeface="Arial MT"/>
              </a:rPr>
              <a:t>systems: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  <a:buSzPct val="125000"/>
              <a:tabLst>
                <a:tab pos="469900" algn="l"/>
              </a:tabLst>
            </a:pPr>
            <a:r>
              <a:rPr lang="en-US" sz="2400" spc="-100" dirty="0">
                <a:latin typeface="Arial MT"/>
                <a:cs typeface="Arial MT"/>
              </a:rPr>
              <a:t>	</a:t>
            </a:r>
            <a:r>
              <a:rPr sz="2400" spc="-100" dirty="0">
                <a:latin typeface="Arial MT"/>
                <a:cs typeface="Arial MT"/>
              </a:rPr>
              <a:t>Generate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false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alarms</a:t>
            </a:r>
            <a:endParaRPr lang="en-US"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  <a:buSzPct val="125000"/>
              <a:tabLst>
                <a:tab pos="469900" algn="l"/>
              </a:tabLst>
            </a:pPr>
            <a:r>
              <a:rPr lang="en-US" sz="2400" spc="-120" dirty="0">
                <a:latin typeface="Arial MT"/>
                <a:cs typeface="Arial MT"/>
              </a:rPr>
              <a:t>	 Fail</a:t>
            </a:r>
            <a:r>
              <a:rPr lang="en-US" sz="2400" spc="-50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to</a:t>
            </a:r>
            <a:r>
              <a:rPr lang="en-US" sz="2400" spc="-100" dirty="0">
                <a:latin typeface="Arial MT"/>
                <a:cs typeface="Arial MT"/>
              </a:rPr>
              <a:t> </a:t>
            </a:r>
            <a:r>
              <a:rPr lang="en-US" sz="2400" spc="-130" dirty="0">
                <a:latin typeface="Arial MT"/>
                <a:cs typeface="Arial MT"/>
              </a:rPr>
              <a:t>classify</a:t>
            </a:r>
            <a:r>
              <a:rPr lang="en-US" sz="2400" spc="-35" dirty="0">
                <a:latin typeface="Arial MT"/>
                <a:cs typeface="Arial MT"/>
              </a:rPr>
              <a:t> </a:t>
            </a:r>
            <a:r>
              <a:rPr lang="en-US" sz="2400" spc="-170" dirty="0">
                <a:latin typeface="Arial MT"/>
                <a:cs typeface="Arial MT"/>
              </a:rPr>
              <a:t>the</a:t>
            </a:r>
            <a:r>
              <a:rPr lang="en-US" sz="2400" spc="-5" dirty="0">
                <a:latin typeface="Arial MT"/>
                <a:cs typeface="Arial MT"/>
              </a:rPr>
              <a:t> </a:t>
            </a:r>
            <a:r>
              <a:rPr lang="en-US" sz="2400" spc="-20" dirty="0">
                <a:latin typeface="Arial MT"/>
                <a:cs typeface="Arial MT"/>
              </a:rPr>
              <a:t>type</a:t>
            </a:r>
            <a:r>
              <a:rPr lang="en-US" sz="2400" spc="-50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of</a:t>
            </a:r>
            <a:r>
              <a:rPr lang="en-US" sz="2400" spc="50" dirty="0">
                <a:latin typeface="Arial MT"/>
                <a:cs typeface="Arial MT"/>
              </a:rPr>
              <a:t> </a:t>
            </a:r>
            <a:r>
              <a:rPr lang="en-US" sz="2400" spc="-50" dirty="0">
                <a:latin typeface="Arial MT"/>
                <a:cs typeface="Arial MT"/>
              </a:rPr>
              <a:t>intrusion</a:t>
            </a:r>
            <a:endParaRPr lang="en-US"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  <a:buSzPct val="125000"/>
              <a:tabLst>
                <a:tab pos="469900" algn="l"/>
              </a:tabLst>
            </a:pPr>
            <a:r>
              <a:rPr lang="en-US" sz="2400" spc="-285" dirty="0">
                <a:latin typeface="Arial MT"/>
                <a:cs typeface="Arial MT"/>
              </a:rPr>
              <a:t> </a:t>
            </a:r>
            <a:r>
              <a:rPr sz="2400" spc="-285" dirty="0">
                <a:latin typeface="Arial MT"/>
                <a:cs typeface="Arial MT"/>
              </a:rPr>
              <a:t>This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project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70" dirty="0">
                <a:latin typeface="Arial MT"/>
                <a:cs typeface="Arial MT"/>
              </a:rPr>
              <a:t>proposes</a:t>
            </a:r>
            <a:r>
              <a:rPr sz="2400" spc="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20" dirty="0">
                <a:latin typeface="Arial MT"/>
                <a:cs typeface="Arial MT"/>
              </a:rPr>
              <a:t>multi-</a:t>
            </a:r>
            <a:r>
              <a:rPr sz="2400" spc="-250" dirty="0">
                <a:latin typeface="Arial MT"/>
                <a:cs typeface="Arial MT"/>
              </a:rPr>
              <a:t>sensor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intelligent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20" dirty="0">
                <a:latin typeface="Arial MT"/>
                <a:cs typeface="Arial MT"/>
              </a:rPr>
              <a:t>detection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system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ACF918-A162-525B-20E6-4D3C3236E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337" y="457200"/>
            <a:ext cx="4810796" cy="9716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A2A32-B776-5A42-0F43-94EA2090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SYLLABUS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AF6D1F-8A51-9F7B-DB75-8A2964B2B0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51" t="31112" r="2823" b="34444"/>
          <a:stretch>
            <a:fillRect/>
          </a:stretch>
        </p:blipFill>
        <p:spPr>
          <a:xfrm>
            <a:off x="762000" y="2024762"/>
            <a:ext cx="10200969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540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12670" y="2217684"/>
            <a:ext cx="6713855" cy="3259867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260"/>
              </a:spcBef>
              <a:buSzPct val="125000"/>
              <a:buFont typeface="Arial MT"/>
              <a:buAutoNum type="arabicPeriod"/>
              <a:tabLst>
                <a:tab pos="469900" algn="l"/>
              </a:tabLst>
            </a:pPr>
            <a:r>
              <a:rPr sz="2400" spc="-155" dirty="0">
                <a:latin typeface="Arial MT"/>
                <a:cs typeface="Arial MT"/>
              </a:rPr>
              <a:t>Detect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70" dirty="0">
                <a:latin typeface="Arial MT"/>
                <a:cs typeface="Arial MT"/>
              </a:rPr>
              <a:t>intrusion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45" dirty="0">
                <a:latin typeface="Arial MT"/>
                <a:cs typeface="Arial MT"/>
              </a:rPr>
              <a:t>in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35" dirty="0">
                <a:latin typeface="Arial MT"/>
                <a:cs typeface="Arial MT"/>
              </a:rPr>
              <a:t>border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25" dirty="0">
                <a:latin typeface="Arial MT"/>
                <a:cs typeface="Arial MT"/>
              </a:rPr>
              <a:t>areas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effectively</a:t>
            </a:r>
            <a:endParaRPr sz="2400" dirty="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835"/>
              </a:spcBef>
              <a:buSzPct val="125000"/>
              <a:buAutoNum type="arabicPeriod"/>
              <a:tabLst>
                <a:tab pos="469900" algn="l"/>
              </a:tabLst>
            </a:pPr>
            <a:r>
              <a:rPr sz="2400" spc="-195" dirty="0">
                <a:latin typeface="Arial MT"/>
                <a:cs typeface="Arial MT"/>
              </a:rPr>
              <a:t>Distinguish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80" dirty="0">
                <a:latin typeface="Arial MT"/>
                <a:cs typeface="Arial MT"/>
              </a:rPr>
              <a:t>land-</a:t>
            </a:r>
            <a:r>
              <a:rPr sz="2400" spc="-105" dirty="0">
                <a:latin typeface="Arial MT"/>
                <a:cs typeface="Arial MT"/>
              </a:rPr>
              <a:t>based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0" dirty="0">
                <a:latin typeface="Arial MT"/>
                <a:cs typeface="Arial MT"/>
              </a:rPr>
              <a:t>and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35" dirty="0">
                <a:latin typeface="Arial MT"/>
                <a:cs typeface="Arial MT"/>
              </a:rPr>
              <a:t>air-</a:t>
            </a:r>
            <a:r>
              <a:rPr sz="2400" spc="-105" dirty="0">
                <a:latin typeface="Arial MT"/>
                <a:cs typeface="Arial MT"/>
              </a:rPr>
              <a:t>based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threats</a:t>
            </a:r>
            <a:endParaRPr sz="2400" dirty="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830"/>
              </a:spcBef>
              <a:buSzPct val="125000"/>
              <a:buAutoNum type="arabicPeriod"/>
              <a:tabLst>
                <a:tab pos="469900" algn="l"/>
              </a:tabLst>
            </a:pPr>
            <a:r>
              <a:rPr sz="2400" spc="-254" dirty="0">
                <a:latin typeface="Arial MT"/>
                <a:cs typeface="Arial MT"/>
              </a:rPr>
              <a:t>Reduce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80" dirty="0">
                <a:latin typeface="Arial MT"/>
                <a:cs typeface="Arial MT"/>
              </a:rPr>
              <a:t>false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45" dirty="0">
                <a:latin typeface="Arial MT"/>
                <a:cs typeface="Arial MT"/>
              </a:rPr>
              <a:t>alarms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35" dirty="0">
                <a:latin typeface="Arial MT"/>
                <a:cs typeface="Arial MT"/>
              </a:rPr>
              <a:t>due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to: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  <a:buSzPct val="125000"/>
              <a:tabLst>
                <a:tab pos="469900" algn="l"/>
              </a:tabLst>
            </a:pPr>
            <a:r>
              <a:rPr lang="en-IN" sz="2400" spc="-1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Birds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  <a:buSzPct val="125000"/>
              <a:tabLst>
                <a:tab pos="469900" algn="l"/>
              </a:tabLst>
            </a:pPr>
            <a:r>
              <a:rPr lang="en-IN" sz="2400" spc="-60" dirty="0">
                <a:latin typeface="Arial MT"/>
                <a:cs typeface="Arial MT"/>
              </a:rPr>
              <a:t>	</a:t>
            </a:r>
            <a:r>
              <a:rPr sz="2400" spc="-60" dirty="0">
                <a:latin typeface="Arial MT"/>
                <a:cs typeface="Arial MT"/>
              </a:rPr>
              <a:t>Animals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  <a:buSzPct val="125000"/>
              <a:tabLst>
                <a:tab pos="469900" algn="l"/>
              </a:tabLst>
            </a:pPr>
            <a:r>
              <a:rPr lang="en-IN" sz="2400" spc="-195" dirty="0">
                <a:latin typeface="Arial MT"/>
                <a:cs typeface="Arial MT"/>
              </a:rPr>
              <a:t>	</a:t>
            </a:r>
            <a:r>
              <a:rPr sz="2400" spc="-195" dirty="0">
                <a:latin typeface="Arial MT"/>
                <a:cs typeface="Arial MT"/>
              </a:rPr>
              <a:t>Environmental</a:t>
            </a:r>
            <a:r>
              <a:rPr sz="2400" spc="12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noise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  <a:buSzPct val="125000"/>
              <a:tabLst>
                <a:tab pos="469900" algn="l"/>
              </a:tabLst>
            </a:pPr>
            <a:r>
              <a:rPr lang="en-IN" sz="2400" spc="-204" dirty="0">
                <a:latin typeface="Arial MT"/>
                <a:cs typeface="Arial MT"/>
              </a:rPr>
              <a:t>4. </a:t>
            </a:r>
            <a:r>
              <a:rPr sz="2400" spc="-204" dirty="0">
                <a:latin typeface="Arial MT"/>
                <a:cs typeface="Arial MT"/>
              </a:rPr>
              <a:t>Design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low-</a:t>
            </a:r>
            <a:r>
              <a:rPr sz="2400" spc="-200" dirty="0">
                <a:latin typeface="Arial MT"/>
                <a:cs typeface="Arial MT"/>
              </a:rPr>
              <a:t>cost,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140" dirty="0">
                <a:latin typeface="Arial MT"/>
                <a:cs typeface="Arial MT"/>
              </a:rPr>
              <a:t>scalable,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155" dirty="0">
                <a:latin typeface="Arial MT"/>
                <a:cs typeface="Arial MT"/>
              </a:rPr>
              <a:t>student-</a:t>
            </a:r>
            <a:r>
              <a:rPr sz="2400" spc="-95" dirty="0">
                <a:latin typeface="Arial MT"/>
                <a:cs typeface="Arial MT"/>
              </a:rPr>
              <a:t>level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prototype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609600"/>
            <a:ext cx="99060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0" y="1066800"/>
            <a:ext cx="6399530" cy="5118100"/>
          </a:xfrm>
          <a:prstGeom prst="rect">
            <a:avLst/>
          </a:prstGeom>
        </p:spPr>
        <p:txBody>
          <a:bodyPr vert="horz" wrap="square" lIns="0" tIns="208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45"/>
              </a:spcBef>
            </a:pPr>
            <a:r>
              <a:rPr sz="2400" b="1" u="sng" spc="-23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Arial"/>
                <a:cs typeface="Arial"/>
              </a:rPr>
              <a:t>Detect</a:t>
            </a:r>
            <a:r>
              <a:rPr sz="2400" b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18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Arial"/>
                <a:cs typeface="Arial"/>
              </a:rPr>
              <a:t>intrusion</a:t>
            </a:r>
            <a:r>
              <a:rPr sz="2400" b="1" u="sng" spc="-5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19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Arial"/>
                <a:cs typeface="Arial"/>
              </a:rPr>
              <a:t>through</a:t>
            </a:r>
            <a:r>
              <a:rPr sz="2400" b="1" u="sng" spc="-5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12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Arial"/>
                <a:cs typeface="Arial"/>
              </a:rPr>
              <a:t>land</a:t>
            </a:r>
            <a:r>
              <a:rPr sz="2400" b="1" u="sng" spc="1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16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Arial"/>
                <a:cs typeface="Arial"/>
              </a:rPr>
              <a:t>and</a:t>
            </a:r>
            <a:r>
              <a:rPr sz="2400" b="1" u="sng" spc="-5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9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Arial"/>
                <a:cs typeface="Arial"/>
              </a:rPr>
              <a:t>air</a:t>
            </a:r>
            <a:r>
              <a:rPr sz="2400" b="1" u="sng" spc="1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3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Arial"/>
                <a:cs typeface="Arial"/>
              </a:rPr>
              <a:t>routes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50"/>
              </a:spcBef>
            </a:pPr>
            <a:r>
              <a:rPr sz="2400" b="1" spc="-165" dirty="0">
                <a:latin typeface="Arial"/>
                <a:cs typeface="Arial"/>
              </a:rPr>
              <a:t>Classify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spc="-130" dirty="0">
                <a:latin typeface="Arial"/>
                <a:cs typeface="Arial"/>
              </a:rPr>
              <a:t>land</a:t>
            </a:r>
            <a:r>
              <a:rPr sz="2400" b="1" spc="35" dirty="0">
                <a:latin typeface="Arial"/>
                <a:cs typeface="Arial"/>
              </a:rPr>
              <a:t> </a:t>
            </a:r>
            <a:r>
              <a:rPr sz="2400" b="1" spc="-185" dirty="0">
                <a:latin typeface="Arial"/>
                <a:cs typeface="Arial"/>
              </a:rPr>
              <a:t>intrusion</a:t>
            </a:r>
            <a:r>
              <a:rPr sz="2400" b="1" spc="30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as:</a:t>
            </a:r>
            <a:endParaRPr sz="24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950"/>
              </a:spcBef>
              <a:buSzPct val="125000"/>
              <a:buAutoNum type="arabicPeriod"/>
              <a:tabLst>
                <a:tab pos="469900" algn="l"/>
              </a:tabLst>
            </a:pPr>
            <a:r>
              <a:rPr sz="2400" spc="-270" dirty="0">
                <a:latin typeface="Arial MT"/>
                <a:cs typeface="Arial MT"/>
              </a:rPr>
              <a:t>Human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00" dirty="0">
                <a:latin typeface="Arial MT"/>
                <a:cs typeface="Arial MT"/>
              </a:rPr>
              <a:t>movement</a:t>
            </a:r>
            <a:endParaRPr sz="2400" dirty="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905"/>
              </a:spcBef>
              <a:buSzPct val="125000"/>
              <a:buAutoNum type="arabicPeriod"/>
              <a:tabLst>
                <a:tab pos="469900" algn="l"/>
              </a:tabLst>
            </a:pPr>
            <a:r>
              <a:rPr sz="2400" spc="-175" dirty="0">
                <a:latin typeface="Arial MT"/>
                <a:cs typeface="Arial MT"/>
              </a:rPr>
              <a:t>Vehicle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spc="-100" dirty="0">
                <a:latin typeface="Arial MT"/>
                <a:cs typeface="Arial MT"/>
              </a:rPr>
              <a:t>movement</a:t>
            </a:r>
            <a:endParaRPr sz="2400" dirty="0">
              <a:latin typeface="Arial MT"/>
              <a:cs typeface="Arial MT"/>
            </a:endParaRPr>
          </a:p>
          <a:p>
            <a:pPr marL="96520">
              <a:lnSpc>
                <a:spcPct val="100000"/>
              </a:lnSpc>
              <a:spcBef>
                <a:spcPts val="1435"/>
              </a:spcBef>
            </a:pPr>
            <a:r>
              <a:rPr sz="2400" b="1" spc="-165" dirty="0">
                <a:latin typeface="Arial"/>
                <a:cs typeface="Arial"/>
              </a:rPr>
              <a:t>Classify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spc="-90" dirty="0">
                <a:latin typeface="Arial"/>
                <a:cs typeface="Arial"/>
              </a:rPr>
              <a:t>air</a:t>
            </a:r>
            <a:r>
              <a:rPr sz="2400" b="1" spc="15" dirty="0">
                <a:latin typeface="Arial"/>
                <a:cs typeface="Arial"/>
              </a:rPr>
              <a:t> </a:t>
            </a:r>
            <a:r>
              <a:rPr sz="2400" b="1" spc="-185" dirty="0">
                <a:latin typeface="Arial"/>
                <a:cs typeface="Arial"/>
              </a:rPr>
              <a:t>intrusion</a:t>
            </a:r>
            <a:r>
              <a:rPr sz="2400" b="1" spc="20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as:</a:t>
            </a:r>
            <a:endParaRPr sz="2400" dirty="0">
              <a:latin typeface="Arial"/>
              <a:cs typeface="Arial"/>
            </a:endParaRPr>
          </a:p>
          <a:p>
            <a:pPr marL="469900" lvl="1" indent="-457200">
              <a:lnSpc>
                <a:spcPct val="100000"/>
              </a:lnSpc>
              <a:spcBef>
                <a:spcPts val="1025"/>
              </a:spcBef>
              <a:buSzPct val="125000"/>
              <a:buAutoNum type="arabicPeriod"/>
              <a:tabLst>
                <a:tab pos="469900" algn="l"/>
              </a:tabLst>
            </a:pPr>
            <a:r>
              <a:rPr sz="2400" spc="-10" dirty="0">
                <a:latin typeface="Arial MT"/>
                <a:cs typeface="Arial MT"/>
              </a:rPr>
              <a:t>Drone</a:t>
            </a:r>
            <a:endParaRPr sz="2400" dirty="0">
              <a:latin typeface="Arial MT"/>
              <a:cs typeface="Arial MT"/>
            </a:endParaRPr>
          </a:p>
          <a:p>
            <a:pPr marL="469900" lvl="1" indent="-457200">
              <a:lnSpc>
                <a:spcPct val="100000"/>
              </a:lnSpc>
              <a:spcBef>
                <a:spcPts val="830"/>
              </a:spcBef>
              <a:buSzPct val="125000"/>
              <a:buAutoNum type="arabicPeriod"/>
              <a:tabLst>
                <a:tab pos="469900" algn="l"/>
              </a:tabLst>
            </a:pPr>
            <a:r>
              <a:rPr sz="2400" spc="-105" dirty="0">
                <a:latin typeface="Arial MT"/>
                <a:cs typeface="Arial MT"/>
              </a:rPr>
              <a:t>Bird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535" dirty="0">
                <a:latin typeface="Arial MT"/>
                <a:cs typeface="Arial MT"/>
              </a:rPr>
              <a:t>/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safe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object</a:t>
            </a:r>
            <a:endParaRPr sz="2400" dirty="0">
              <a:latin typeface="Arial MT"/>
              <a:cs typeface="Arial MT"/>
            </a:endParaRPr>
          </a:p>
          <a:p>
            <a:pPr marL="96520">
              <a:lnSpc>
                <a:spcPct val="100000"/>
              </a:lnSpc>
              <a:spcBef>
                <a:spcPts val="1430"/>
              </a:spcBef>
            </a:pPr>
            <a:r>
              <a:rPr sz="2400" spc="-185" dirty="0">
                <a:latin typeface="Arial MT"/>
                <a:cs typeface="Arial MT"/>
              </a:rPr>
              <a:t>Implement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sensor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185" dirty="0">
                <a:latin typeface="Arial MT"/>
                <a:cs typeface="Arial MT"/>
              </a:rPr>
              <a:t>fusion</a:t>
            </a:r>
            <a:r>
              <a:rPr sz="2400" dirty="0">
                <a:latin typeface="Arial MT"/>
                <a:cs typeface="Arial MT"/>
              </a:rPr>
              <a:t> for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35" dirty="0">
                <a:latin typeface="Arial MT"/>
                <a:cs typeface="Arial MT"/>
              </a:rPr>
              <a:t>reliable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165" dirty="0">
                <a:latin typeface="Arial MT"/>
                <a:cs typeface="Arial MT"/>
              </a:rPr>
              <a:t>decision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90" dirty="0">
                <a:latin typeface="Arial MT"/>
                <a:cs typeface="Arial MT"/>
              </a:rPr>
              <a:t>making</a:t>
            </a:r>
            <a:endParaRPr sz="2400" dirty="0">
              <a:latin typeface="Arial MT"/>
              <a:cs typeface="Arial MT"/>
            </a:endParaRPr>
          </a:p>
          <a:p>
            <a:pPr marL="96520">
              <a:lnSpc>
                <a:spcPct val="100000"/>
              </a:lnSpc>
              <a:spcBef>
                <a:spcPts val="1625"/>
              </a:spcBef>
            </a:pPr>
            <a:r>
              <a:rPr sz="2400" spc="-80" dirty="0">
                <a:latin typeface="Arial MT"/>
                <a:cs typeface="Arial MT"/>
              </a:rPr>
              <a:t>provide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40" dirty="0">
                <a:latin typeface="Arial MT"/>
                <a:cs typeface="Arial MT"/>
              </a:rPr>
              <a:t>real-</a:t>
            </a:r>
            <a:r>
              <a:rPr sz="2400" spc="-155" dirty="0">
                <a:latin typeface="Arial MT"/>
                <a:cs typeface="Arial MT"/>
              </a:rPr>
              <a:t>time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90" dirty="0">
                <a:latin typeface="Arial MT"/>
                <a:cs typeface="Arial MT"/>
              </a:rPr>
              <a:t>alerts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05" dirty="0">
                <a:latin typeface="Arial MT"/>
                <a:cs typeface="Arial MT"/>
              </a:rPr>
              <a:t>with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85" dirty="0">
                <a:latin typeface="Arial MT"/>
                <a:cs typeface="Arial MT"/>
              </a:rPr>
              <a:t>threat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80" dirty="0">
                <a:latin typeface="Arial MT"/>
                <a:cs typeface="Arial MT"/>
              </a:rPr>
              <a:t>level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indication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50DFC7-2B43-B0AF-E167-27FF8AF1EE34}"/>
              </a:ext>
            </a:extLst>
          </p:cNvPr>
          <p:cNvSpPr txBox="1"/>
          <p:nvPr/>
        </p:nvSpPr>
        <p:spPr>
          <a:xfrm>
            <a:off x="1143000" y="152400"/>
            <a:ext cx="6248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OBJECTIVES</a:t>
            </a:r>
            <a:endParaRPr lang="en-IN" sz="4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25" y="0"/>
              <a:ext cx="1164431" cy="23717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552825"/>
              <a:ext cx="219075" cy="65722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4486275"/>
              <a:ext cx="238125" cy="23622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9075" y="4867275"/>
              <a:ext cx="983240" cy="19907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370703" y="0"/>
              <a:ext cx="535546" cy="6286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534775" y="5553075"/>
              <a:ext cx="504825" cy="12954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630025" y="9525"/>
              <a:ext cx="381000" cy="172402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439525" y="4867275"/>
              <a:ext cx="390525" cy="198120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474724" y="1798318"/>
            <a:ext cx="7477125" cy="440690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2750" b="1" u="sng" spc="-2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sz="2750" b="1" u="sng" spc="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750" b="1" u="sng" spc="-229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proposed</a:t>
            </a:r>
            <a:r>
              <a:rPr sz="2750" b="1" u="sng" spc="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750" b="1" u="sng" spc="-229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system</a:t>
            </a:r>
            <a:r>
              <a:rPr sz="275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750" b="1" u="sng" spc="-26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consists</a:t>
            </a:r>
            <a:r>
              <a:rPr sz="2750" b="1" u="sng" spc="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750" b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of:</a:t>
            </a:r>
            <a:endParaRPr sz="275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1730"/>
              </a:spcBef>
              <a:buSzPct val="127272"/>
              <a:buFont typeface="Microsoft Sans Serif"/>
              <a:buChar char="•"/>
              <a:tabLst>
                <a:tab pos="240665" algn="l"/>
              </a:tabLst>
            </a:pPr>
            <a:r>
              <a:rPr sz="2750" spc="-114" dirty="0">
                <a:latin typeface="Arial MT"/>
                <a:cs typeface="Arial MT"/>
              </a:rPr>
              <a:t>Ground</a:t>
            </a:r>
            <a:r>
              <a:rPr sz="2750" spc="-80" dirty="0">
                <a:latin typeface="Arial MT"/>
                <a:cs typeface="Arial MT"/>
              </a:rPr>
              <a:t> </a:t>
            </a:r>
            <a:r>
              <a:rPr sz="2750" spc="-50" dirty="0">
                <a:latin typeface="Arial MT"/>
                <a:cs typeface="Arial MT"/>
              </a:rPr>
              <a:t>vibration</a:t>
            </a:r>
            <a:r>
              <a:rPr sz="2750" spc="-30" dirty="0">
                <a:latin typeface="Arial MT"/>
                <a:cs typeface="Arial MT"/>
              </a:rPr>
              <a:t> </a:t>
            </a:r>
            <a:r>
              <a:rPr sz="2750" spc="-245" dirty="0">
                <a:latin typeface="Arial MT"/>
                <a:cs typeface="Arial MT"/>
              </a:rPr>
              <a:t>sensing</a:t>
            </a:r>
            <a:r>
              <a:rPr sz="2750" spc="25" dirty="0">
                <a:latin typeface="Arial MT"/>
                <a:cs typeface="Arial MT"/>
              </a:rPr>
              <a:t> </a:t>
            </a:r>
            <a:r>
              <a:rPr sz="2750" spc="-20" dirty="0">
                <a:latin typeface="Arial MT"/>
                <a:cs typeface="Arial MT"/>
              </a:rPr>
              <a:t>unit</a:t>
            </a:r>
            <a:endParaRPr sz="275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810"/>
              </a:spcBef>
              <a:buSzPct val="127272"/>
              <a:buFont typeface="Microsoft Sans Serif"/>
              <a:buChar char="•"/>
              <a:tabLst>
                <a:tab pos="240665" algn="l"/>
              </a:tabLst>
            </a:pPr>
            <a:r>
              <a:rPr sz="2750" spc="-215" dirty="0">
                <a:latin typeface="Arial MT"/>
                <a:cs typeface="Arial MT"/>
              </a:rPr>
              <a:t>Acoustic</a:t>
            </a:r>
            <a:r>
              <a:rPr sz="2750" spc="10" dirty="0">
                <a:latin typeface="Arial MT"/>
                <a:cs typeface="Arial MT"/>
              </a:rPr>
              <a:t> </a:t>
            </a:r>
            <a:r>
              <a:rPr sz="2750" spc="-235" dirty="0">
                <a:latin typeface="Arial MT"/>
                <a:cs typeface="Arial MT"/>
              </a:rPr>
              <a:t>sensing</a:t>
            </a:r>
            <a:r>
              <a:rPr sz="2750" spc="90" dirty="0">
                <a:latin typeface="Arial MT"/>
                <a:cs typeface="Arial MT"/>
              </a:rPr>
              <a:t> </a:t>
            </a:r>
            <a:r>
              <a:rPr sz="2750" spc="-20" dirty="0">
                <a:latin typeface="Arial MT"/>
                <a:cs typeface="Arial MT"/>
              </a:rPr>
              <a:t>unit</a:t>
            </a:r>
            <a:endParaRPr sz="275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730"/>
              </a:spcBef>
              <a:buSzPct val="127272"/>
              <a:buFont typeface="Microsoft Sans Serif"/>
              <a:buChar char="•"/>
              <a:tabLst>
                <a:tab pos="240665" algn="l"/>
              </a:tabLst>
            </a:pPr>
            <a:r>
              <a:rPr sz="2750" spc="-265" dirty="0">
                <a:latin typeface="Arial MT"/>
                <a:cs typeface="Arial MT"/>
              </a:rPr>
              <a:t>Passive</a:t>
            </a:r>
            <a:r>
              <a:rPr sz="2750" spc="35" dirty="0">
                <a:latin typeface="Arial MT"/>
                <a:cs typeface="Arial MT"/>
              </a:rPr>
              <a:t> </a:t>
            </a:r>
            <a:r>
              <a:rPr sz="2750" spc="-530" dirty="0">
                <a:latin typeface="Arial MT"/>
                <a:cs typeface="Arial MT"/>
              </a:rPr>
              <a:t>RF</a:t>
            </a:r>
            <a:r>
              <a:rPr sz="2750" spc="-10" dirty="0">
                <a:latin typeface="Arial MT"/>
                <a:cs typeface="Arial MT"/>
              </a:rPr>
              <a:t> </a:t>
            </a:r>
            <a:r>
              <a:rPr sz="2750" spc="-229" dirty="0">
                <a:latin typeface="Arial MT"/>
                <a:cs typeface="Arial MT"/>
              </a:rPr>
              <a:t>sensing</a:t>
            </a:r>
            <a:r>
              <a:rPr sz="2750" spc="45" dirty="0">
                <a:latin typeface="Arial MT"/>
                <a:cs typeface="Arial MT"/>
              </a:rPr>
              <a:t> </a:t>
            </a:r>
            <a:r>
              <a:rPr sz="2750" spc="-20" dirty="0">
                <a:latin typeface="Arial MT"/>
                <a:cs typeface="Arial MT"/>
              </a:rPr>
              <a:t>unit</a:t>
            </a:r>
            <a:endParaRPr sz="275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735"/>
              </a:spcBef>
              <a:buSzPct val="127272"/>
              <a:buFont typeface="Microsoft Sans Serif"/>
              <a:buChar char="•"/>
              <a:tabLst>
                <a:tab pos="240665" algn="l"/>
              </a:tabLst>
            </a:pPr>
            <a:r>
              <a:rPr sz="2750" spc="-150" dirty="0">
                <a:latin typeface="Arial MT"/>
                <a:cs typeface="Arial MT"/>
              </a:rPr>
              <a:t>Embedded</a:t>
            </a:r>
            <a:r>
              <a:rPr sz="2750" spc="-10" dirty="0">
                <a:latin typeface="Arial MT"/>
                <a:cs typeface="Arial MT"/>
              </a:rPr>
              <a:t> </a:t>
            </a:r>
            <a:r>
              <a:rPr sz="2750" spc="-85" dirty="0">
                <a:latin typeface="Arial MT"/>
                <a:cs typeface="Arial MT"/>
              </a:rPr>
              <a:t>controller(Arduino/ESP32)</a:t>
            </a:r>
            <a:endParaRPr sz="275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730"/>
              </a:spcBef>
              <a:buSzPct val="127272"/>
              <a:buFont typeface="Microsoft Sans Serif"/>
              <a:buChar char="•"/>
              <a:tabLst>
                <a:tab pos="240665" algn="l"/>
              </a:tabLst>
            </a:pPr>
            <a:r>
              <a:rPr sz="2750" spc="-95" dirty="0">
                <a:latin typeface="Arial MT"/>
                <a:cs typeface="Arial MT"/>
              </a:rPr>
              <a:t>Display</a:t>
            </a:r>
            <a:r>
              <a:rPr sz="2750" spc="-85" dirty="0">
                <a:latin typeface="Arial MT"/>
                <a:cs typeface="Arial MT"/>
              </a:rPr>
              <a:t> </a:t>
            </a:r>
            <a:r>
              <a:rPr sz="2750" spc="-45" dirty="0">
                <a:latin typeface="Arial MT"/>
                <a:cs typeface="Arial MT"/>
              </a:rPr>
              <a:t>and</a:t>
            </a:r>
            <a:r>
              <a:rPr sz="2750" spc="-7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alert</a:t>
            </a:r>
            <a:r>
              <a:rPr sz="2750" spc="-114" dirty="0">
                <a:latin typeface="Arial MT"/>
                <a:cs typeface="Arial MT"/>
              </a:rPr>
              <a:t> </a:t>
            </a:r>
            <a:r>
              <a:rPr sz="2750" spc="-20" dirty="0">
                <a:latin typeface="Arial MT"/>
                <a:cs typeface="Arial MT"/>
              </a:rPr>
              <a:t>unit</a:t>
            </a:r>
            <a:endParaRPr sz="275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730"/>
              </a:spcBef>
              <a:buSzPct val="127272"/>
              <a:buFont typeface="Microsoft Sans Serif"/>
              <a:buChar char="•"/>
              <a:tabLst>
                <a:tab pos="240665" algn="l"/>
              </a:tabLst>
            </a:pPr>
            <a:r>
              <a:rPr sz="2750" spc="-300" dirty="0">
                <a:latin typeface="Arial MT"/>
                <a:cs typeface="Arial MT"/>
              </a:rPr>
              <a:t>The</a:t>
            </a:r>
            <a:r>
              <a:rPr sz="2750" spc="15" dirty="0">
                <a:latin typeface="Arial MT"/>
                <a:cs typeface="Arial MT"/>
              </a:rPr>
              <a:t> </a:t>
            </a:r>
            <a:r>
              <a:rPr sz="2750" spc="-254" dirty="0">
                <a:latin typeface="Arial MT"/>
                <a:cs typeface="Arial MT"/>
              </a:rPr>
              <a:t>system</a:t>
            </a:r>
            <a:r>
              <a:rPr sz="2750" spc="5" dirty="0">
                <a:latin typeface="Arial MT"/>
                <a:cs typeface="Arial MT"/>
              </a:rPr>
              <a:t> </a:t>
            </a:r>
            <a:r>
              <a:rPr sz="2750" spc="-185" dirty="0">
                <a:latin typeface="Arial MT"/>
                <a:cs typeface="Arial MT"/>
              </a:rPr>
              <a:t>functions</a:t>
            </a:r>
            <a:r>
              <a:rPr sz="2750" spc="-5" dirty="0">
                <a:latin typeface="Arial MT"/>
                <a:cs typeface="Arial MT"/>
              </a:rPr>
              <a:t> </a:t>
            </a:r>
            <a:r>
              <a:rPr sz="2750" spc="-195" dirty="0">
                <a:latin typeface="Arial MT"/>
                <a:cs typeface="Arial MT"/>
              </a:rPr>
              <a:t>as</a:t>
            </a:r>
            <a:r>
              <a:rPr sz="2750" spc="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a</a:t>
            </a:r>
            <a:r>
              <a:rPr sz="2750" spc="-2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border</a:t>
            </a:r>
            <a:r>
              <a:rPr sz="2750" spc="15" dirty="0">
                <a:latin typeface="Arial MT"/>
                <a:cs typeface="Arial MT"/>
              </a:rPr>
              <a:t> </a:t>
            </a:r>
            <a:r>
              <a:rPr sz="2750" spc="-150" dirty="0">
                <a:latin typeface="Arial MT"/>
                <a:cs typeface="Arial MT"/>
              </a:rPr>
              <a:t>surveillance</a:t>
            </a:r>
            <a:r>
              <a:rPr sz="2750" dirty="0">
                <a:latin typeface="Arial MT"/>
                <a:cs typeface="Arial MT"/>
              </a:rPr>
              <a:t> </a:t>
            </a:r>
            <a:r>
              <a:rPr sz="2750" spc="-60" dirty="0">
                <a:latin typeface="Arial MT"/>
                <a:cs typeface="Arial MT"/>
              </a:rPr>
              <a:t>node.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388999" y="701357"/>
            <a:ext cx="435483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u="sng" spc="-484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</a:rPr>
              <a:t>System</a:t>
            </a:r>
            <a:r>
              <a:rPr sz="4800" u="sng" spc="-45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</a:rPr>
              <a:t> </a:t>
            </a:r>
            <a:r>
              <a:rPr sz="4800" u="sng" spc="-280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</a:rPr>
              <a:t>overview</a:t>
            </a:r>
            <a:endParaRPr sz="4800"/>
          </a:p>
        </p:txBody>
      </p:sp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38175" y="295275"/>
            <a:ext cx="8124825" cy="15335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63896" y="5800344"/>
            <a:ext cx="1463040" cy="63703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63440" y="2819400"/>
            <a:ext cx="277367" cy="62788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69535" y="1097280"/>
            <a:ext cx="3151632" cy="135940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746248" y="6109715"/>
            <a:ext cx="634365" cy="0"/>
          </a:xfrm>
          <a:custGeom>
            <a:avLst/>
            <a:gdLst/>
            <a:ahLst/>
            <a:cxnLst/>
            <a:rect l="l" t="t" r="r" b="b"/>
            <a:pathLst>
              <a:path w="634364">
                <a:moveTo>
                  <a:pt x="0" y="0"/>
                </a:moveTo>
                <a:lnTo>
                  <a:pt x="633984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23232" y="6109715"/>
            <a:ext cx="707390" cy="0"/>
          </a:xfrm>
          <a:custGeom>
            <a:avLst/>
            <a:gdLst/>
            <a:ahLst/>
            <a:cxnLst/>
            <a:rect l="l" t="t" r="r" b="b"/>
            <a:pathLst>
              <a:path w="707389">
                <a:moveTo>
                  <a:pt x="0" y="0"/>
                </a:moveTo>
                <a:lnTo>
                  <a:pt x="707136" y="0"/>
                </a:lnTo>
              </a:path>
            </a:pathLst>
          </a:custGeom>
          <a:ln w="9144">
            <a:solidFill>
              <a:srgbClr val="707C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60620" y="2496311"/>
            <a:ext cx="0" cy="1579245"/>
          </a:xfrm>
          <a:custGeom>
            <a:avLst/>
            <a:gdLst/>
            <a:ahLst/>
            <a:cxnLst/>
            <a:rect l="l" t="t" r="r" b="b"/>
            <a:pathLst>
              <a:path h="1579245">
                <a:moveTo>
                  <a:pt x="0" y="1578864"/>
                </a:moveTo>
                <a:lnTo>
                  <a:pt x="0" y="0"/>
                </a:lnTo>
              </a:path>
            </a:pathLst>
          </a:custGeom>
          <a:ln w="9144">
            <a:solidFill>
              <a:srgbClr val="3F44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4956047" y="2496311"/>
            <a:ext cx="4395470" cy="1579245"/>
            <a:chOff x="4956047" y="2496311"/>
            <a:chExt cx="4395470" cy="1579245"/>
          </a:xfrm>
        </p:grpSpPr>
        <p:sp>
          <p:nvSpPr>
            <p:cNvPr id="9" name="object 9"/>
            <p:cNvSpPr/>
            <p:nvPr/>
          </p:nvSpPr>
          <p:spPr>
            <a:xfrm>
              <a:off x="9346691" y="2496311"/>
              <a:ext cx="0" cy="1579245"/>
            </a:xfrm>
            <a:custGeom>
              <a:avLst/>
              <a:gdLst/>
              <a:ahLst/>
              <a:cxnLst/>
              <a:rect l="l" t="t" r="r" b="b"/>
              <a:pathLst>
                <a:path h="1579245">
                  <a:moveTo>
                    <a:pt x="0" y="1578864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3F44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56047" y="2500883"/>
              <a:ext cx="4395470" cy="0"/>
            </a:xfrm>
            <a:custGeom>
              <a:avLst/>
              <a:gdLst/>
              <a:ahLst/>
              <a:cxnLst/>
              <a:rect l="l" t="t" r="r" b="b"/>
              <a:pathLst>
                <a:path w="4395470">
                  <a:moveTo>
                    <a:pt x="0" y="0"/>
                  </a:moveTo>
                  <a:lnTo>
                    <a:pt x="4395216" y="0"/>
                  </a:lnTo>
                </a:path>
              </a:pathLst>
            </a:custGeom>
            <a:ln w="9144">
              <a:solidFill>
                <a:srgbClr val="3F44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56047" y="4070603"/>
              <a:ext cx="4395470" cy="0"/>
            </a:xfrm>
            <a:custGeom>
              <a:avLst/>
              <a:gdLst/>
              <a:ahLst/>
              <a:cxnLst/>
              <a:rect l="l" t="t" r="r" b="b"/>
              <a:pathLst>
                <a:path w="4395470">
                  <a:moveTo>
                    <a:pt x="0" y="0"/>
                  </a:moveTo>
                  <a:lnTo>
                    <a:pt x="4395216" y="0"/>
                  </a:lnTo>
                </a:path>
              </a:pathLst>
            </a:custGeom>
            <a:ln w="9144">
              <a:solidFill>
                <a:srgbClr val="3F44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98719" y="2811779"/>
              <a:ext cx="4346575" cy="0"/>
            </a:xfrm>
            <a:custGeom>
              <a:avLst/>
              <a:gdLst/>
              <a:ahLst/>
              <a:cxnLst/>
              <a:rect l="l" t="t" r="r" b="b"/>
              <a:pathLst>
                <a:path w="4346575">
                  <a:moveTo>
                    <a:pt x="0" y="0"/>
                  </a:moveTo>
                  <a:lnTo>
                    <a:pt x="4346448" y="0"/>
                  </a:lnTo>
                </a:path>
              </a:pathLst>
            </a:custGeom>
            <a:ln w="9144">
              <a:solidFill>
                <a:srgbClr val="6B7C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3950208" y="1726692"/>
            <a:ext cx="384175" cy="0"/>
          </a:xfrm>
          <a:custGeom>
            <a:avLst/>
            <a:gdLst/>
            <a:ahLst/>
            <a:cxnLst/>
            <a:rect l="l" t="t" r="r" b="b"/>
            <a:pathLst>
              <a:path w="384175">
                <a:moveTo>
                  <a:pt x="0" y="0"/>
                </a:moveTo>
                <a:lnTo>
                  <a:pt x="384048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720595" y="1431036"/>
            <a:ext cx="2950845" cy="896619"/>
          </a:xfrm>
          <a:prstGeom prst="rect">
            <a:avLst/>
          </a:prstGeom>
          <a:ln w="9144">
            <a:solidFill>
              <a:srgbClr val="3F444B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R="24130" algn="ctr">
              <a:lnSpc>
                <a:spcPct val="100000"/>
              </a:lnSpc>
              <a:spcBef>
                <a:spcPts val="390"/>
              </a:spcBef>
            </a:pPr>
            <a:r>
              <a:rPr sz="1300" spc="195" dirty="0">
                <a:solidFill>
                  <a:srgbClr val="181818"/>
                </a:solidFill>
                <a:latin typeface="Trebuchet MS"/>
                <a:cs typeface="Trebuchet MS"/>
              </a:rPr>
              <a:t>ACOUSTIC</a:t>
            </a:r>
            <a:r>
              <a:rPr sz="1300" spc="114" dirty="0">
                <a:solidFill>
                  <a:srgbClr val="181818"/>
                </a:solidFill>
                <a:latin typeface="Trebuchet MS"/>
                <a:cs typeface="Trebuchet MS"/>
              </a:rPr>
              <a:t> </a:t>
            </a:r>
            <a:r>
              <a:rPr sz="1300" spc="245" dirty="0">
                <a:solidFill>
                  <a:srgbClr val="1A1A1A"/>
                </a:solidFill>
                <a:latin typeface="Trebuchet MS"/>
                <a:cs typeface="Trebuchet MS"/>
              </a:rPr>
              <a:t>SENSOR</a:t>
            </a:r>
            <a:endParaRPr sz="1300">
              <a:latin typeface="Trebuchet MS"/>
              <a:cs typeface="Trebuchet MS"/>
            </a:endParaRPr>
          </a:p>
          <a:p>
            <a:pPr marL="459740" marR="487680" indent="46355" algn="ctr">
              <a:lnSpc>
                <a:spcPct val="100699"/>
              </a:lnSpc>
              <a:spcBef>
                <a:spcPts val="750"/>
              </a:spcBef>
            </a:pPr>
            <a:r>
              <a:rPr sz="1450" spc="105" dirty="0">
                <a:latin typeface="Arial MT"/>
                <a:cs typeface="Arial MT"/>
              </a:rPr>
              <a:t>(Microphone)</a:t>
            </a:r>
            <a:r>
              <a:rPr sz="1450" spc="120" dirty="0">
                <a:latin typeface="Arial MT"/>
                <a:cs typeface="Arial MT"/>
              </a:rPr>
              <a:t> (Drone</a:t>
            </a:r>
            <a:r>
              <a:rPr sz="1450" spc="150" dirty="0">
                <a:latin typeface="Arial MT"/>
                <a:cs typeface="Arial MT"/>
              </a:rPr>
              <a:t> </a:t>
            </a:r>
            <a:r>
              <a:rPr sz="1450" spc="70" dirty="0">
                <a:latin typeface="Arial MT"/>
                <a:cs typeface="Arial MT"/>
              </a:rPr>
              <a:t>/</a:t>
            </a:r>
            <a:r>
              <a:rPr sz="1450" spc="225" dirty="0">
                <a:latin typeface="Arial MT"/>
                <a:cs typeface="Arial MT"/>
              </a:rPr>
              <a:t> </a:t>
            </a:r>
            <a:r>
              <a:rPr sz="1450" spc="95" dirty="0">
                <a:latin typeface="Arial MT"/>
                <a:cs typeface="Arial MT"/>
              </a:rPr>
              <a:t>Bird</a:t>
            </a:r>
            <a:r>
              <a:rPr sz="1450" spc="55" dirty="0">
                <a:latin typeface="Arial MT"/>
                <a:cs typeface="Arial MT"/>
              </a:rPr>
              <a:t> </a:t>
            </a:r>
            <a:r>
              <a:rPr sz="1450" spc="90" dirty="0">
                <a:latin typeface="Arial MT"/>
                <a:cs typeface="Arial MT"/>
              </a:rPr>
              <a:t>Sound}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20595" y="2796539"/>
            <a:ext cx="2950845" cy="323215"/>
          </a:xfrm>
          <a:prstGeom prst="rect">
            <a:avLst/>
          </a:prstGeom>
          <a:ln w="9144">
            <a:solidFill>
              <a:srgbClr val="2B343F"/>
            </a:solidFill>
          </a:ln>
        </p:spPr>
        <p:txBody>
          <a:bodyPr vert="horz" wrap="square" lIns="0" tIns="59055" rIns="0" bIns="0" rtlCol="0">
            <a:spAutoFit/>
          </a:bodyPr>
          <a:lstStyle/>
          <a:p>
            <a:pPr marL="641350">
              <a:lnSpc>
                <a:spcPct val="100000"/>
              </a:lnSpc>
              <a:spcBef>
                <a:spcPts val="465"/>
              </a:spcBef>
            </a:pPr>
            <a:r>
              <a:rPr sz="1250" spc="85" dirty="0">
                <a:solidFill>
                  <a:srgbClr val="181818"/>
                </a:solidFill>
                <a:latin typeface="Arial MT"/>
                <a:cs typeface="Arial MT"/>
              </a:rPr>
              <a:t>PASSIVE</a:t>
            </a:r>
            <a:r>
              <a:rPr sz="1250" spc="1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2D2D2D"/>
                </a:solidFill>
                <a:latin typeface="Arial MT"/>
                <a:cs typeface="Arial MT"/>
              </a:rPr>
              <a:t>RF</a:t>
            </a:r>
            <a:r>
              <a:rPr sz="1250" spc="114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1C1C1C"/>
                </a:solidFill>
                <a:latin typeface="Arial MT"/>
                <a:cs typeface="Arial MT"/>
              </a:rPr>
              <a:t>SENSOR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20595" y="3119627"/>
            <a:ext cx="2950845" cy="350520"/>
          </a:xfrm>
          <a:prstGeom prst="rect">
            <a:avLst/>
          </a:prstGeom>
          <a:ln w="9144">
            <a:solidFill>
              <a:srgbClr val="2B343F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L="701675">
              <a:lnSpc>
                <a:spcPct val="100000"/>
              </a:lnSpc>
              <a:spcBef>
                <a:spcPts val="390"/>
              </a:spcBef>
            </a:pPr>
            <a:r>
              <a:rPr sz="1300" spc="125" dirty="0">
                <a:latin typeface="Arial MT"/>
                <a:cs typeface="Arial MT"/>
              </a:rPr>
              <a:t>(Wireless</a:t>
            </a:r>
            <a:r>
              <a:rPr sz="1300" spc="100" dirty="0">
                <a:latin typeface="Arial MT"/>
                <a:cs typeface="Arial MT"/>
              </a:rPr>
              <a:t> </a:t>
            </a:r>
            <a:r>
              <a:rPr sz="1300" spc="140" dirty="0">
                <a:latin typeface="Arial MT"/>
                <a:cs typeface="Arial MT"/>
              </a:rPr>
              <a:t>Activity)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11979" y="345947"/>
            <a:ext cx="3362325" cy="341630"/>
          </a:xfrm>
          <a:prstGeom prst="rect">
            <a:avLst/>
          </a:prstGeom>
          <a:ln w="9144">
            <a:solidFill>
              <a:srgbClr val="3F444B"/>
            </a:solidFill>
          </a:ln>
        </p:spPr>
        <p:txBody>
          <a:bodyPr vert="horz" wrap="square" lIns="0" tIns="52069" rIns="0" bIns="0" rtlCol="0">
            <a:spAutoFit/>
          </a:bodyPr>
          <a:lstStyle/>
          <a:p>
            <a:pPr marL="281305">
              <a:lnSpc>
                <a:spcPct val="100000"/>
              </a:lnSpc>
              <a:spcBef>
                <a:spcPts val="409"/>
              </a:spcBef>
            </a:pPr>
            <a:r>
              <a:rPr sz="1400" spc="55" dirty="0">
                <a:solidFill>
                  <a:srgbClr val="1A1A1A"/>
                </a:solidFill>
                <a:latin typeface="Arial MT"/>
                <a:cs typeface="Arial MT"/>
              </a:rPr>
              <a:t>GROUND</a:t>
            </a:r>
            <a:r>
              <a:rPr sz="14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400" spc="50" dirty="0">
                <a:solidFill>
                  <a:srgbClr val="1A1A1A"/>
                </a:solidFill>
                <a:latin typeface="Arial MT"/>
                <a:cs typeface="Arial MT"/>
              </a:rPr>
              <a:t>VIBRATION</a:t>
            </a:r>
            <a:r>
              <a:rPr sz="1400" spc="1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81818"/>
                </a:solidFill>
                <a:latin typeface="Arial MT"/>
                <a:cs typeface="Arial MT"/>
              </a:rPr>
              <a:t>SENSOR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11979" y="687323"/>
            <a:ext cx="3362325" cy="411480"/>
          </a:xfrm>
          <a:prstGeom prst="rect">
            <a:avLst/>
          </a:prstGeom>
          <a:ln w="9144">
            <a:solidFill>
              <a:srgbClr val="3F444B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 marL="706755">
              <a:lnSpc>
                <a:spcPct val="100000"/>
              </a:lnSpc>
              <a:spcBef>
                <a:spcPts val="365"/>
              </a:spcBef>
            </a:pPr>
            <a:r>
              <a:rPr sz="1400" spc="140" dirty="0">
                <a:latin typeface="Arial MT"/>
                <a:cs typeface="Arial MT"/>
              </a:rPr>
              <a:t>(Footstep</a:t>
            </a:r>
            <a:r>
              <a:rPr sz="1400" spc="185" dirty="0">
                <a:latin typeface="Arial MT"/>
                <a:cs typeface="Arial MT"/>
              </a:rPr>
              <a:t> </a:t>
            </a:r>
            <a:r>
              <a:rPr sz="1400" spc="85" dirty="0">
                <a:latin typeface="Arial MT"/>
                <a:cs typeface="Arial MT"/>
              </a:rPr>
              <a:t>/</a:t>
            </a:r>
            <a:r>
              <a:rPr sz="1400" spc="185" dirty="0">
                <a:latin typeface="Arial MT"/>
                <a:cs typeface="Arial MT"/>
              </a:rPr>
              <a:t> </a:t>
            </a:r>
            <a:r>
              <a:rPr sz="1400" spc="120" dirty="0">
                <a:latin typeface="Arial MT"/>
                <a:cs typeface="Arial MT"/>
              </a:rPr>
              <a:t>Vehicle)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705100" y="5786628"/>
            <a:ext cx="2560320" cy="664845"/>
          </a:xfrm>
          <a:prstGeom prst="rect">
            <a:avLst/>
          </a:prstGeom>
          <a:ln w="9144">
            <a:solidFill>
              <a:srgbClr val="383F48"/>
            </a:solidFill>
          </a:ln>
        </p:spPr>
        <p:txBody>
          <a:bodyPr vert="horz" wrap="square" lIns="0" tIns="58419" rIns="0" bIns="0" rtlCol="0">
            <a:spAutoFit/>
          </a:bodyPr>
          <a:lstStyle/>
          <a:p>
            <a:pPr marL="491490">
              <a:lnSpc>
                <a:spcPct val="100000"/>
              </a:lnSpc>
              <a:spcBef>
                <a:spcPts val="459"/>
              </a:spcBef>
            </a:pPr>
            <a:r>
              <a:rPr sz="1350" spc="254" dirty="0">
                <a:solidFill>
                  <a:srgbClr val="1A1A1A"/>
                </a:solidFill>
                <a:latin typeface="Trebuchet MS"/>
                <a:cs typeface="Trebuchet MS"/>
              </a:rPr>
              <a:t>POWER</a:t>
            </a:r>
            <a:r>
              <a:rPr sz="1350" spc="170" dirty="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sz="1350" spc="175" dirty="0">
                <a:solidFill>
                  <a:srgbClr val="1A1A1A"/>
                </a:solidFill>
                <a:latin typeface="Trebuchet MS"/>
                <a:cs typeface="Trebuchet MS"/>
              </a:rPr>
              <a:t>SUPPLY</a:t>
            </a:r>
            <a:endParaRPr sz="1350">
              <a:latin typeface="Trebuchet MS"/>
              <a:cs typeface="Trebuchet MS"/>
            </a:endParaRPr>
          </a:p>
          <a:p>
            <a:pPr marL="517525">
              <a:lnSpc>
                <a:spcPct val="100000"/>
              </a:lnSpc>
              <a:spcBef>
                <a:spcPts val="705"/>
              </a:spcBef>
            </a:pPr>
            <a:r>
              <a:rPr sz="1450" spc="60" dirty="0">
                <a:latin typeface="Arial MT"/>
                <a:cs typeface="Arial MT"/>
              </a:rPr>
              <a:t>(USB</a:t>
            </a:r>
            <a:r>
              <a:rPr sz="1450" spc="210" dirty="0"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131313"/>
                </a:solidFill>
                <a:latin typeface="Arial MT"/>
                <a:cs typeface="Arial MT"/>
              </a:rPr>
              <a:t>/</a:t>
            </a:r>
            <a:r>
              <a:rPr sz="1450" spc="25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450" spc="125" dirty="0">
                <a:latin typeface="Arial MT"/>
                <a:cs typeface="Arial MT"/>
              </a:rPr>
              <a:t>Battery)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65191" y="2553461"/>
            <a:ext cx="4377055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2030">
              <a:lnSpc>
                <a:spcPct val="100000"/>
              </a:lnSpc>
              <a:spcBef>
                <a:spcPts val="100"/>
              </a:spcBef>
            </a:pPr>
            <a:r>
              <a:rPr sz="1250" spc="85" dirty="0">
                <a:solidFill>
                  <a:srgbClr val="161616"/>
                </a:solidFill>
                <a:latin typeface="Arial MT"/>
                <a:cs typeface="Arial MT"/>
              </a:rPr>
              <a:t>E</a:t>
            </a:r>
            <a:r>
              <a:rPr lang="en-US" sz="1250" spc="85" dirty="0">
                <a:solidFill>
                  <a:srgbClr val="161616"/>
                </a:solidFill>
                <a:latin typeface="Arial MT"/>
                <a:cs typeface="Arial MT"/>
              </a:rPr>
              <a:t>M</a:t>
            </a:r>
            <a:r>
              <a:rPr sz="1250" spc="85" dirty="0">
                <a:solidFill>
                  <a:srgbClr val="161616"/>
                </a:solidFill>
                <a:latin typeface="Arial MT"/>
                <a:cs typeface="Arial MT"/>
              </a:rPr>
              <a:t>BEDDED</a:t>
            </a:r>
            <a:r>
              <a:rPr sz="1250" spc="18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250" spc="85" dirty="0">
                <a:solidFill>
                  <a:srgbClr val="181818"/>
                </a:solidFill>
                <a:latin typeface="Arial MT"/>
                <a:cs typeface="Arial MT"/>
              </a:rPr>
              <a:t>CONTROLLER</a:t>
            </a:r>
            <a:endParaRPr sz="1250" dirty="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965191" y="2799125"/>
            <a:ext cx="4377055" cy="115379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360170">
              <a:lnSpc>
                <a:spcPct val="100000"/>
              </a:lnSpc>
              <a:spcBef>
                <a:spcPts val="434"/>
              </a:spcBef>
            </a:pPr>
            <a:r>
              <a:rPr sz="1450" spc="110" dirty="0">
                <a:latin typeface="Arial MT"/>
                <a:cs typeface="Arial MT"/>
              </a:rPr>
              <a:t>(Arduino</a:t>
            </a:r>
            <a:r>
              <a:rPr sz="1450" spc="114" dirty="0">
                <a:latin typeface="Arial MT"/>
                <a:cs typeface="Arial MT"/>
              </a:rPr>
              <a:t> </a:t>
            </a:r>
            <a:r>
              <a:rPr sz="1450" spc="70" dirty="0">
                <a:solidFill>
                  <a:srgbClr val="1C1C1C"/>
                </a:solidFill>
                <a:latin typeface="Arial MT"/>
                <a:cs typeface="Arial MT"/>
              </a:rPr>
              <a:t>/ </a:t>
            </a:r>
            <a:r>
              <a:rPr sz="1450" spc="-10" dirty="0">
                <a:latin typeface="Arial MT"/>
                <a:cs typeface="Arial MT"/>
              </a:rPr>
              <a:t>ESP32)</a:t>
            </a:r>
            <a:endParaRPr sz="1450" dirty="0">
              <a:latin typeface="Arial MT"/>
              <a:cs typeface="Arial MT"/>
            </a:endParaRPr>
          </a:p>
          <a:p>
            <a:pPr marL="467359" indent="-200025">
              <a:lnSpc>
                <a:spcPts val="1620"/>
              </a:lnSpc>
              <a:spcBef>
                <a:spcPts val="325"/>
              </a:spcBef>
              <a:buChar char="•"/>
              <a:tabLst>
                <a:tab pos="467359" algn="l"/>
              </a:tabLst>
            </a:pPr>
            <a:r>
              <a:rPr sz="1400" spc="130" dirty="0">
                <a:latin typeface="Arial MT"/>
                <a:cs typeface="Arial MT"/>
              </a:rPr>
              <a:t>Sensor</a:t>
            </a:r>
            <a:r>
              <a:rPr sz="1400" spc="220" dirty="0">
                <a:latin typeface="Arial MT"/>
                <a:cs typeface="Arial MT"/>
              </a:rPr>
              <a:t> </a:t>
            </a:r>
            <a:r>
              <a:rPr sz="1400" spc="150" dirty="0">
                <a:latin typeface="Arial MT"/>
                <a:cs typeface="Arial MT"/>
              </a:rPr>
              <a:t>Data</a:t>
            </a:r>
            <a:r>
              <a:rPr sz="1400" spc="210" dirty="0">
                <a:latin typeface="Arial MT"/>
                <a:cs typeface="Arial MT"/>
              </a:rPr>
              <a:t> </a:t>
            </a:r>
            <a:r>
              <a:rPr sz="1400" spc="140" dirty="0">
                <a:latin typeface="Arial MT"/>
                <a:cs typeface="Arial MT"/>
              </a:rPr>
              <a:t>Acqui</a:t>
            </a:r>
            <a:r>
              <a:rPr sz="1400" spc="-229" dirty="0">
                <a:latin typeface="Arial MT"/>
                <a:cs typeface="Arial MT"/>
              </a:rPr>
              <a:t> </a:t>
            </a:r>
            <a:r>
              <a:rPr sz="1400" spc="125" dirty="0">
                <a:latin typeface="Arial MT"/>
                <a:cs typeface="Arial MT"/>
              </a:rPr>
              <a:t>sifion</a:t>
            </a:r>
            <a:endParaRPr sz="1400" dirty="0">
              <a:latin typeface="Arial MT"/>
              <a:cs typeface="Arial MT"/>
            </a:endParaRPr>
          </a:p>
          <a:p>
            <a:pPr marL="271145">
              <a:lnSpc>
                <a:spcPts val="1664"/>
              </a:lnSpc>
              <a:tabLst>
                <a:tab pos="466725" algn="l"/>
              </a:tabLst>
            </a:pPr>
            <a:r>
              <a:rPr sz="1450" spc="-50" dirty="0">
                <a:latin typeface="Arial MT"/>
                <a:cs typeface="Arial MT"/>
              </a:rPr>
              <a:t>-</a:t>
            </a:r>
            <a:r>
              <a:rPr sz="1450" dirty="0">
                <a:latin typeface="Arial MT"/>
                <a:cs typeface="Arial MT"/>
              </a:rPr>
              <a:t>	</a:t>
            </a:r>
            <a:r>
              <a:rPr sz="1450" spc="135" dirty="0">
                <a:latin typeface="Arial MT"/>
                <a:cs typeface="Arial MT"/>
              </a:rPr>
              <a:t>Pattern</a:t>
            </a:r>
            <a:r>
              <a:rPr sz="1450" spc="160" dirty="0">
                <a:latin typeface="Arial MT"/>
                <a:cs typeface="Arial MT"/>
              </a:rPr>
              <a:t> </a:t>
            </a:r>
            <a:r>
              <a:rPr sz="1450" spc="110" dirty="0">
                <a:latin typeface="Arial MT"/>
                <a:cs typeface="Arial MT"/>
              </a:rPr>
              <a:t>Recognition</a:t>
            </a:r>
            <a:endParaRPr sz="1450" dirty="0">
              <a:latin typeface="Arial MT"/>
              <a:cs typeface="Arial MT"/>
            </a:endParaRPr>
          </a:p>
          <a:p>
            <a:pPr marL="467359" indent="-199390">
              <a:lnSpc>
                <a:spcPts val="1560"/>
              </a:lnSpc>
              <a:buChar char="•"/>
              <a:tabLst>
                <a:tab pos="467359" algn="l"/>
              </a:tabLst>
            </a:pPr>
            <a:r>
              <a:rPr sz="1350" spc="150" dirty="0">
                <a:latin typeface="Arial MT"/>
                <a:cs typeface="Arial MT"/>
              </a:rPr>
              <a:t>Seeso</a:t>
            </a:r>
            <a:r>
              <a:rPr sz="1350" spc="-250" dirty="0">
                <a:latin typeface="Arial MT"/>
                <a:cs typeface="Arial MT"/>
              </a:rPr>
              <a:t> </a:t>
            </a:r>
            <a:r>
              <a:rPr sz="1350" spc="80" dirty="0">
                <a:solidFill>
                  <a:srgbClr val="0E0E0E"/>
                </a:solidFill>
                <a:latin typeface="Arial MT"/>
                <a:cs typeface="Arial MT"/>
              </a:rPr>
              <a:t>r</a:t>
            </a:r>
            <a:r>
              <a:rPr sz="1350" spc="19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350" spc="150" dirty="0">
                <a:latin typeface="Arial MT"/>
                <a:cs typeface="Arial MT"/>
              </a:rPr>
              <a:t>Fusion</a:t>
            </a:r>
            <a:r>
              <a:rPr sz="1350" spc="195" dirty="0">
                <a:latin typeface="Arial MT"/>
                <a:cs typeface="Arial MT"/>
              </a:rPr>
              <a:t> </a:t>
            </a:r>
            <a:r>
              <a:rPr sz="1350" spc="130" dirty="0">
                <a:latin typeface="Arial MT"/>
                <a:cs typeface="Arial MT"/>
              </a:rPr>
              <a:t>LDgie</a:t>
            </a:r>
            <a:endParaRPr sz="1350" dirty="0">
              <a:latin typeface="Arial MT"/>
              <a:cs typeface="Arial MT"/>
            </a:endParaRPr>
          </a:p>
          <a:p>
            <a:pPr marL="271145">
              <a:lnSpc>
                <a:spcPts val="1635"/>
              </a:lnSpc>
            </a:pPr>
            <a:r>
              <a:rPr sz="1400" spc="105" dirty="0">
                <a:latin typeface="Arial MT"/>
                <a:cs typeface="Arial MT"/>
              </a:rPr>
              <a:t>-</a:t>
            </a:r>
            <a:r>
              <a:rPr sz="1400" spc="75" dirty="0">
                <a:latin typeface="Arial MT"/>
                <a:cs typeface="Arial MT"/>
              </a:rPr>
              <a:t>  </a:t>
            </a:r>
            <a:r>
              <a:rPr sz="1400" spc="160" dirty="0">
                <a:latin typeface="Arial MT"/>
                <a:cs typeface="Arial MT"/>
              </a:rPr>
              <a:t>Threat</a:t>
            </a:r>
            <a:r>
              <a:rPr sz="1400" spc="175" dirty="0">
                <a:latin typeface="Arial MT"/>
                <a:cs typeface="Arial MT"/>
              </a:rPr>
              <a:t> </a:t>
            </a:r>
            <a:r>
              <a:rPr sz="1400" spc="100" dirty="0">
                <a:latin typeface="Arial MT"/>
                <a:cs typeface="Arial MT"/>
              </a:rPr>
              <a:t>CLassificafion</a:t>
            </a:r>
            <a:endParaRPr sz="1400" dirty="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06211" y="4439411"/>
            <a:ext cx="3182620" cy="1076325"/>
          </a:xfrm>
          <a:prstGeom prst="rect">
            <a:avLst/>
          </a:prstGeom>
          <a:ln w="9144">
            <a:solidFill>
              <a:srgbClr val="383F48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345"/>
              </a:spcBef>
            </a:pPr>
            <a:r>
              <a:rPr sz="1250" spc="100" dirty="0">
                <a:solidFill>
                  <a:srgbClr val="1A1A1A"/>
                </a:solidFill>
                <a:latin typeface="Arial MT"/>
                <a:cs typeface="Arial MT"/>
              </a:rPr>
              <a:t>DISPLAY</a:t>
            </a:r>
            <a:r>
              <a:rPr sz="1250" spc="1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250" spc="114" dirty="0">
                <a:solidFill>
                  <a:srgbClr val="2D2D2D"/>
                </a:solidFill>
                <a:latin typeface="Arial MT"/>
                <a:cs typeface="Arial MT"/>
              </a:rPr>
              <a:t>&amp;</a:t>
            </a:r>
            <a:r>
              <a:rPr sz="1250" spc="35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1250" spc="105" dirty="0">
                <a:solidFill>
                  <a:srgbClr val="1A1A1A"/>
                </a:solidFill>
                <a:latin typeface="Arial MT"/>
                <a:cs typeface="Arial MT"/>
              </a:rPr>
              <a:t>ALERT</a:t>
            </a:r>
            <a:r>
              <a:rPr sz="1250" spc="1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250" spc="155" dirty="0">
                <a:solidFill>
                  <a:srgbClr val="212121"/>
                </a:solidFill>
                <a:latin typeface="Arial MT"/>
                <a:cs typeface="Arial MT"/>
              </a:rPr>
              <a:t>UNIT</a:t>
            </a:r>
            <a:endParaRPr sz="1250">
              <a:latin typeface="Arial MT"/>
              <a:cs typeface="Arial MT"/>
            </a:endParaRPr>
          </a:p>
          <a:p>
            <a:pPr marL="488950" indent="-198755">
              <a:lnSpc>
                <a:spcPts val="1725"/>
              </a:lnSpc>
              <a:spcBef>
                <a:spcPts val="770"/>
              </a:spcBef>
              <a:buClr>
                <a:srgbClr val="111111"/>
              </a:buClr>
              <a:buChar char="•"/>
              <a:tabLst>
                <a:tab pos="488950" algn="l"/>
              </a:tabLst>
            </a:pPr>
            <a:r>
              <a:rPr sz="1450" spc="50" dirty="0">
                <a:latin typeface="Arial MT"/>
                <a:cs typeface="Arial MT"/>
              </a:rPr>
              <a:t>LCD</a:t>
            </a:r>
            <a:r>
              <a:rPr sz="1450" spc="185" dirty="0"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0F0F0F"/>
                </a:solidFill>
                <a:latin typeface="Arial MT"/>
                <a:cs typeface="Arial MT"/>
              </a:rPr>
              <a:t>/</a:t>
            </a:r>
            <a:r>
              <a:rPr sz="1450" spc="24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450" spc="65" dirty="0">
                <a:latin typeface="Arial MT"/>
                <a:cs typeface="Arial MT"/>
              </a:rPr>
              <a:t>OLED</a:t>
            </a:r>
            <a:r>
              <a:rPr sz="1450" spc="170" dirty="0">
                <a:latin typeface="Arial MT"/>
                <a:cs typeface="Arial MT"/>
              </a:rPr>
              <a:t> </a:t>
            </a:r>
            <a:r>
              <a:rPr sz="1450" spc="110" dirty="0">
                <a:latin typeface="Arial MT"/>
                <a:cs typeface="Arial MT"/>
              </a:rPr>
              <a:t>Display</a:t>
            </a:r>
            <a:endParaRPr sz="1450">
              <a:latin typeface="Arial MT"/>
              <a:cs typeface="Arial MT"/>
            </a:endParaRPr>
          </a:p>
          <a:p>
            <a:pPr marL="489584" indent="-199390">
              <a:lnSpc>
                <a:spcPts val="1639"/>
              </a:lnSpc>
              <a:buChar char="•"/>
              <a:tabLst>
                <a:tab pos="489584" algn="l"/>
              </a:tabLst>
            </a:pPr>
            <a:r>
              <a:rPr sz="1400" spc="160" dirty="0">
                <a:latin typeface="Arial MT"/>
                <a:cs typeface="Arial MT"/>
              </a:rPr>
              <a:t>LED</a:t>
            </a:r>
            <a:r>
              <a:rPr sz="1400" spc="-85" dirty="0">
                <a:latin typeface="Arial MT"/>
                <a:cs typeface="Arial MT"/>
              </a:rPr>
              <a:t> </a:t>
            </a:r>
            <a:r>
              <a:rPr sz="1400" spc="140" dirty="0">
                <a:latin typeface="Arial MT"/>
                <a:cs typeface="Arial MT"/>
              </a:rPr>
              <a:t>Indicators</a:t>
            </a:r>
            <a:endParaRPr sz="1400">
              <a:latin typeface="Arial MT"/>
              <a:cs typeface="Arial MT"/>
            </a:endParaRPr>
          </a:p>
          <a:p>
            <a:pPr marL="489584" indent="-199390">
              <a:lnSpc>
                <a:spcPts val="1655"/>
              </a:lnSpc>
              <a:buChar char="•"/>
              <a:tabLst>
                <a:tab pos="489584" algn="l"/>
              </a:tabLst>
            </a:pPr>
            <a:r>
              <a:rPr sz="1400" spc="130" dirty="0">
                <a:latin typeface="Arial MT"/>
                <a:cs typeface="Arial MT"/>
              </a:rPr>
              <a:t>Buzzer</a:t>
            </a:r>
            <a:r>
              <a:rPr sz="1400" spc="245" dirty="0">
                <a:latin typeface="Arial MT"/>
                <a:cs typeface="Arial MT"/>
              </a:rPr>
              <a:t> </a:t>
            </a:r>
            <a:r>
              <a:rPr sz="1400" spc="190" dirty="0">
                <a:latin typeface="Arial MT"/>
                <a:cs typeface="Arial MT"/>
              </a:rPr>
              <a:t>Alarm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39474" y="5957061"/>
            <a:ext cx="1168400" cy="246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150" dirty="0">
                <a:latin typeface="Arial MT"/>
                <a:cs typeface="Arial MT"/>
              </a:rPr>
              <a:t>Al\</a:t>
            </a:r>
            <a:r>
              <a:rPr sz="1450" spc="-30" dirty="0">
                <a:latin typeface="Arial MT"/>
                <a:cs typeface="Arial MT"/>
              </a:rPr>
              <a:t> </a:t>
            </a:r>
            <a:r>
              <a:rPr sz="1450" spc="120" dirty="0">
                <a:latin typeface="Arial MT"/>
                <a:cs typeface="Arial MT"/>
              </a:rPr>
              <a:t>Modules</a:t>
            </a:r>
            <a:endParaRPr sz="1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084EF-22AA-77AB-E91D-7ADE4D420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MAIN COMPONENTS REQUIRED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691BC-D5FB-1EE8-2AAC-9172EC74E4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F867B0A-B92F-6896-C01A-4880AD71AA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799004"/>
              </p:ext>
            </p:extLst>
          </p:nvPr>
        </p:nvGraphicFramePr>
        <p:xfrm>
          <a:off x="1221104" y="2286000"/>
          <a:ext cx="6703696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1696">
                  <a:extLst>
                    <a:ext uri="{9D8B030D-6E8A-4147-A177-3AD203B41FA5}">
                      <a16:colId xmlns:a16="http://schemas.microsoft.com/office/drawing/2014/main" val="8306579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15381108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454779068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82224075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lang="en-IN" dirty="0"/>
                        <a:t>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39389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IN" dirty="0"/>
                        <a:t>ESP 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Rs.450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Rs. 450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129738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IN" dirty="0"/>
                        <a:t>SW 420 Module (vibration)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Rs 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Rs. 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26878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IN" dirty="0"/>
                        <a:t>Sound sensor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Rs.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Rs. 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83142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IN" dirty="0"/>
                        <a:t>16x2 LCD with I2C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Rs. 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Rs. 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263707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IN" dirty="0"/>
                        <a:t>Active Buzzer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Rs. 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Rs. 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335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5310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25" y="0"/>
              <a:ext cx="1164431" cy="23717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552825"/>
              <a:ext cx="219075" cy="65722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4486275"/>
              <a:ext cx="238125" cy="23622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9075" y="4867275"/>
              <a:ext cx="983240" cy="19907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370703" y="0"/>
              <a:ext cx="535546" cy="6286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534775" y="5553075"/>
              <a:ext cx="504825" cy="12954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630025" y="9525"/>
              <a:ext cx="381000" cy="172402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439525" y="4867275"/>
              <a:ext cx="390525" cy="1981200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481012" y="404113"/>
            <a:ext cx="968946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20" dirty="0"/>
              <a:t>GROUND</a:t>
            </a:r>
            <a:r>
              <a:rPr spc="-60" dirty="0"/>
              <a:t> </a:t>
            </a:r>
            <a:r>
              <a:rPr spc="-290" dirty="0"/>
              <a:t>VIBRATION</a:t>
            </a:r>
            <a:r>
              <a:rPr spc="-30" dirty="0"/>
              <a:t> </a:t>
            </a:r>
            <a:r>
              <a:rPr spc="-495" dirty="0"/>
              <a:t>SENSOR</a:t>
            </a:r>
            <a:r>
              <a:rPr spc="-5" dirty="0"/>
              <a:t> </a:t>
            </a:r>
            <a:r>
              <a:rPr spc="-260" dirty="0"/>
              <a:t>(LAND</a:t>
            </a:r>
            <a:r>
              <a:rPr spc="-60" dirty="0"/>
              <a:t> </a:t>
            </a:r>
            <a:r>
              <a:rPr spc="-380" dirty="0"/>
              <a:t>DETECTION)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898808" y="1012306"/>
            <a:ext cx="5233988" cy="58710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341630" indent="-227965">
              <a:lnSpc>
                <a:spcPct val="122800"/>
              </a:lnSpc>
              <a:spcBef>
                <a:spcPts val="95"/>
              </a:spcBef>
              <a:buSzPct val="127272"/>
              <a:buFont typeface="Microsoft Sans Serif"/>
              <a:buChar char="•"/>
              <a:tabLst>
                <a:tab pos="241300" algn="l"/>
              </a:tabLst>
            </a:pPr>
            <a:r>
              <a:rPr sz="2400" spc="-200" dirty="0">
                <a:latin typeface="Arial MT"/>
                <a:cs typeface="Arial MT"/>
              </a:rPr>
              <a:t>Detects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65" dirty="0">
                <a:latin typeface="Arial MT"/>
                <a:cs typeface="Arial MT"/>
              </a:rPr>
              <a:t>mechanical</a:t>
            </a:r>
            <a:r>
              <a:rPr sz="2400" spc="45" dirty="0">
                <a:latin typeface="Arial MT"/>
                <a:cs typeface="Arial MT"/>
              </a:rPr>
              <a:t> </a:t>
            </a:r>
            <a:r>
              <a:rPr sz="2400" spc="-105" dirty="0">
                <a:latin typeface="Arial MT"/>
                <a:cs typeface="Arial MT"/>
              </a:rPr>
              <a:t>vibrations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254" dirty="0">
                <a:latin typeface="Arial MT"/>
                <a:cs typeface="Arial MT"/>
              </a:rPr>
              <a:t>on</a:t>
            </a:r>
            <a:r>
              <a:rPr sz="2400" spc="45" dirty="0">
                <a:latin typeface="Arial MT"/>
                <a:cs typeface="Arial MT"/>
              </a:rPr>
              <a:t> </a:t>
            </a:r>
            <a:r>
              <a:rPr sz="2400" spc="-55" dirty="0">
                <a:latin typeface="Arial MT"/>
                <a:cs typeface="Arial MT"/>
              </a:rPr>
              <a:t>the 	</a:t>
            </a:r>
            <a:r>
              <a:rPr sz="2400" spc="-10" dirty="0">
                <a:latin typeface="Arial MT"/>
                <a:cs typeface="Arial MT"/>
              </a:rPr>
              <a:t>ground</a:t>
            </a:r>
            <a:endParaRPr sz="2400" dirty="0">
              <a:latin typeface="Arial MT"/>
              <a:cs typeface="Arial MT"/>
            </a:endParaRPr>
          </a:p>
          <a:p>
            <a:pPr marL="339090" indent="-326390">
              <a:lnSpc>
                <a:spcPct val="100000"/>
              </a:lnSpc>
              <a:spcBef>
                <a:spcPts val="1730"/>
              </a:spcBef>
              <a:buSzPct val="127272"/>
              <a:buFont typeface="Microsoft Sans Serif"/>
              <a:buChar char="•"/>
              <a:tabLst>
                <a:tab pos="339090" algn="l"/>
              </a:tabLst>
            </a:pPr>
            <a:r>
              <a:rPr sz="2400" spc="-220" dirty="0">
                <a:latin typeface="Arial MT"/>
                <a:cs typeface="Arial MT"/>
              </a:rPr>
              <a:t>Used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identify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70" dirty="0">
                <a:latin typeface="Arial MT"/>
                <a:cs typeface="Arial MT"/>
              </a:rPr>
              <a:t>land-</a:t>
            </a:r>
            <a:r>
              <a:rPr sz="2400" spc="-80" dirty="0">
                <a:latin typeface="Arial MT"/>
                <a:cs typeface="Arial MT"/>
              </a:rPr>
              <a:t>based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70" dirty="0">
                <a:latin typeface="Arial MT"/>
                <a:cs typeface="Arial MT"/>
              </a:rPr>
              <a:t>intrusions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400" b="1" spc="-165" dirty="0">
                <a:latin typeface="Arial"/>
                <a:cs typeface="Arial"/>
              </a:rPr>
              <a:t>Classification</a:t>
            </a:r>
            <a:r>
              <a:rPr sz="2400" b="1" spc="20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logic:</a:t>
            </a:r>
            <a:endParaRPr sz="2400" dirty="0">
              <a:latin typeface="Arial"/>
              <a:cs typeface="Arial"/>
            </a:endParaRPr>
          </a:p>
          <a:p>
            <a:pPr marL="241300" marR="1397000" indent="-229235">
              <a:lnSpc>
                <a:spcPct val="122900"/>
              </a:lnSpc>
              <a:spcBef>
                <a:spcPts val="975"/>
              </a:spcBef>
              <a:buSzPct val="127272"/>
              <a:buFont typeface="Microsoft Sans Serif"/>
              <a:buChar char="•"/>
              <a:tabLst>
                <a:tab pos="241300" algn="l"/>
                <a:tab pos="338455" algn="l"/>
              </a:tabLst>
            </a:pPr>
            <a:r>
              <a:rPr sz="2400" spc="-265" dirty="0">
                <a:latin typeface="Arial MT"/>
                <a:cs typeface="Arial MT"/>
              </a:rPr>
              <a:t>Low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85" dirty="0">
                <a:latin typeface="Arial MT"/>
                <a:cs typeface="Arial MT"/>
              </a:rPr>
              <a:t>amplitude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periodic </a:t>
            </a:r>
            <a:r>
              <a:rPr sz="2400" spc="-150" dirty="0">
                <a:latin typeface="Arial MT"/>
                <a:cs typeface="Arial MT"/>
              </a:rPr>
              <a:t>vibrations</a:t>
            </a:r>
            <a:r>
              <a:rPr sz="2400" spc="-150" dirty="0">
                <a:latin typeface="Microsoft Sans Serif"/>
                <a:cs typeface="Microsoft Sans Serif"/>
              </a:rPr>
              <a:t>→</a:t>
            </a:r>
            <a:r>
              <a:rPr sz="2400" spc="-150" dirty="0">
                <a:latin typeface="Arial MT"/>
                <a:cs typeface="Arial MT"/>
              </a:rPr>
              <a:t>Human</a:t>
            </a:r>
            <a:r>
              <a:rPr sz="2400" spc="60" dirty="0">
                <a:latin typeface="Arial MT"/>
                <a:cs typeface="Arial MT"/>
              </a:rPr>
              <a:t> </a:t>
            </a:r>
            <a:r>
              <a:rPr sz="2400" spc="-120" dirty="0">
                <a:latin typeface="Arial MT"/>
                <a:cs typeface="Arial MT"/>
              </a:rPr>
              <a:t>footsteps</a:t>
            </a:r>
            <a:endParaRPr sz="2400" dirty="0">
              <a:latin typeface="Arial MT"/>
              <a:cs typeface="Arial MT"/>
            </a:endParaRPr>
          </a:p>
          <a:p>
            <a:pPr marL="240029" marR="277495" indent="-227965">
              <a:lnSpc>
                <a:spcPct val="122900"/>
              </a:lnSpc>
              <a:spcBef>
                <a:spcPts val="980"/>
              </a:spcBef>
              <a:buSzPct val="127272"/>
              <a:buFont typeface="Microsoft Sans Serif"/>
              <a:buChar char="•"/>
              <a:tabLst>
                <a:tab pos="241300" algn="l"/>
              </a:tabLst>
            </a:pPr>
            <a:r>
              <a:rPr sz="2400" spc="-125" dirty="0">
                <a:latin typeface="Arial MT"/>
                <a:cs typeface="Arial MT"/>
              </a:rPr>
              <a:t>High-</a:t>
            </a:r>
            <a:r>
              <a:rPr sz="2400" spc="-90" dirty="0">
                <a:latin typeface="Arial MT"/>
                <a:cs typeface="Arial MT"/>
              </a:rPr>
              <a:t>amplitude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30" dirty="0">
                <a:latin typeface="Arial MT"/>
                <a:cs typeface="Arial MT"/>
              </a:rPr>
              <a:t>continuous 	</a:t>
            </a:r>
            <a:r>
              <a:rPr sz="2400" spc="-120" dirty="0">
                <a:latin typeface="Arial MT"/>
                <a:cs typeface="Arial MT"/>
              </a:rPr>
              <a:t>vibrations</a:t>
            </a:r>
            <a:r>
              <a:rPr sz="2400" spc="-120" dirty="0">
                <a:latin typeface="Microsoft Sans Serif"/>
                <a:cs typeface="Microsoft Sans Serif"/>
              </a:rPr>
              <a:t>→</a:t>
            </a:r>
            <a:r>
              <a:rPr sz="2400" spc="-120" dirty="0">
                <a:latin typeface="Arial MT"/>
                <a:cs typeface="Arial MT"/>
              </a:rPr>
              <a:t>Vehicle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movement 	</a:t>
            </a:r>
            <a:r>
              <a:rPr sz="2400" b="1" spc="-265" dirty="0">
                <a:latin typeface="Arial"/>
                <a:cs typeface="Arial"/>
              </a:rPr>
              <a:t>Output</a:t>
            </a:r>
            <a:r>
              <a:rPr sz="2400" spc="-265" dirty="0">
                <a:latin typeface="Arial MT"/>
                <a:cs typeface="Arial MT"/>
              </a:rPr>
              <a:t>:</a:t>
            </a:r>
            <a:endParaRPr lang="en-IN" sz="2400" spc="-265" dirty="0">
              <a:latin typeface="Arial MT"/>
              <a:cs typeface="Arial MT"/>
            </a:endParaRPr>
          </a:p>
          <a:p>
            <a:pPr marL="240029" marR="277495" indent="-227965">
              <a:lnSpc>
                <a:spcPct val="122900"/>
              </a:lnSpc>
              <a:spcBef>
                <a:spcPts val="980"/>
              </a:spcBef>
              <a:buSzPct val="127272"/>
              <a:buFont typeface="Microsoft Sans Serif"/>
              <a:buChar char="•"/>
              <a:tabLst>
                <a:tab pos="241300" algn="l"/>
              </a:tabLst>
            </a:pPr>
            <a:r>
              <a:rPr sz="2400" spc="-265" dirty="0">
                <a:latin typeface="Arial MT"/>
                <a:cs typeface="Arial MT"/>
              </a:rPr>
              <a:t>LAND:HUMAN</a:t>
            </a:r>
            <a:endParaRPr lang="en-IN" sz="2400" spc="-265" dirty="0">
              <a:latin typeface="Arial MT"/>
              <a:cs typeface="Arial MT"/>
            </a:endParaRPr>
          </a:p>
          <a:p>
            <a:pPr marL="240029" marR="277495" indent="-227965">
              <a:lnSpc>
                <a:spcPct val="122900"/>
              </a:lnSpc>
              <a:spcBef>
                <a:spcPts val="980"/>
              </a:spcBef>
              <a:buSzPct val="127272"/>
              <a:buFont typeface="Microsoft Sans Serif"/>
              <a:buChar char="•"/>
              <a:tabLst>
                <a:tab pos="241300" algn="l"/>
              </a:tabLst>
            </a:pPr>
            <a:r>
              <a:rPr sz="2400" spc="-265" dirty="0">
                <a:latin typeface="Arial MT"/>
                <a:cs typeface="Arial MT"/>
              </a:rPr>
              <a:t>LAND:VEHICLE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250555" y="1520063"/>
            <a:ext cx="3579495" cy="31527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19" y="365759"/>
            <a:ext cx="11411712" cy="616915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5631" y="707135"/>
            <a:ext cx="122110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50" baseline="1207" dirty="0">
                <a:latin typeface="Trebuchet MS"/>
                <a:cs typeface="Trebuchet MS"/>
              </a:rPr>
              <a:t>Fly</a:t>
            </a:r>
            <a:r>
              <a:rPr sz="3450" spc="217" baseline="1207" dirty="0">
                <a:latin typeface="Trebuchet MS"/>
                <a:cs typeface="Trebuchet MS"/>
              </a:rPr>
              <a:t> </a:t>
            </a:r>
            <a:r>
              <a:rPr sz="3450" spc="187" baseline="1207" dirty="0">
                <a:latin typeface="Trebuchet MS"/>
                <a:cs typeface="Trebuchet MS"/>
              </a:rPr>
              <a:t>R</a:t>
            </a:r>
            <a:r>
              <a:rPr sz="2300" spc="125" dirty="0">
                <a:latin typeface="Trebuchet MS"/>
                <a:cs typeface="Trebuchet MS"/>
              </a:rPr>
              <a:t>oc</a:t>
            </a:r>
            <a:r>
              <a:rPr sz="3450" spc="187" baseline="1207" dirty="0">
                <a:latin typeface="Trebuchet MS"/>
                <a:cs typeface="Trebuchet MS"/>
              </a:rPr>
              <a:t>k</a:t>
            </a:r>
            <a:endParaRPr sz="3450" baseline="1207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701" y="2111755"/>
            <a:ext cx="2080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rebuchet MS"/>
                <a:cs typeface="Trebuchet MS"/>
              </a:rPr>
              <a:t>Fragmentation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11394" y="731519"/>
            <a:ext cx="1660525" cy="769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1809" marR="5080" indent="-499745">
              <a:lnSpc>
                <a:spcPct val="106100"/>
              </a:lnSpc>
              <a:spcBef>
                <a:spcPts val="100"/>
              </a:spcBef>
            </a:pPr>
            <a:r>
              <a:rPr sz="2300" dirty="0">
                <a:latin typeface="Trebuchet MS"/>
                <a:cs typeface="Trebuchet MS"/>
              </a:rPr>
              <a:t>Toxic</a:t>
            </a:r>
            <a:r>
              <a:rPr sz="2300" spc="300" dirty="0">
                <a:latin typeface="Trebuchet MS"/>
                <a:cs typeface="Trebuchet MS"/>
              </a:rPr>
              <a:t> </a:t>
            </a:r>
            <a:r>
              <a:rPr sz="2300" spc="75" dirty="0">
                <a:latin typeface="Trebuchet MS"/>
                <a:cs typeface="Trebuchet MS"/>
              </a:rPr>
              <a:t>Gases </a:t>
            </a:r>
            <a:r>
              <a:rPr sz="2300" spc="95" dirty="0">
                <a:latin typeface="Trebuchet MS"/>
                <a:cs typeface="Trebuchet MS"/>
              </a:rPr>
              <a:t>Dust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7928" y="3691382"/>
            <a:ext cx="178117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75" spc="-67" baseline="1234" dirty="0">
                <a:latin typeface="Arial MT"/>
                <a:cs typeface="Arial MT"/>
              </a:rPr>
              <a:t>BLast</a:t>
            </a:r>
            <a:r>
              <a:rPr sz="3375" spc="-135" baseline="1234" dirty="0">
                <a:latin typeface="Arial MT"/>
                <a:cs typeface="Arial MT"/>
              </a:rPr>
              <a:t> </a:t>
            </a:r>
            <a:r>
              <a:rPr sz="3375" spc="127" baseline="1234" dirty="0">
                <a:latin typeface="Arial MT"/>
                <a:cs typeface="Arial MT"/>
              </a:rPr>
              <a:t>So</a:t>
            </a:r>
            <a:r>
              <a:rPr sz="2250" spc="85" dirty="0">
                <a:latin typeface="Arial MT"/>
                <a:cs typeface="Arial MT"/>
              </a:rPr>
              <a:t>ur</a:t>
            </a:r>
            <a:r>
              <a:rPr sz="3375" spc="127" baseline="1234" dirty="0">
                <a:latin typeface="Arial MT"/>
                <a:cs typeface="Arial MT"/>
              </a:rPr>
              <a:t>ce</a:t>
            </a:r>
            <a:endParaRPr sz="3375" baseline="1234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948299" y="388873"/>
            <a:ext cx="1246505" cy="414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b="0" u="none" dirty="0">
                <a:latin typeface="Trebuchet MS"/>
                <a:cs typeface="Trebuchet MS"/>
              </a:rPr>
              <a:t>Air</a:t>
            </a:r>
            <a:r>
              <a:rPr sz="2550" b="0" u="none" spc="-105" dirty="0">
                <a:latin typeface="Trebuchet MS"/>
                <a:cs typeface="Trebuchet MS"/>
              </a:rPr>
              <a:t> </a:t>
            </a:r>
            <a:r>
              <a:rPr sz="2550" b="0" u="none" spc="-10" dirty="0">
                <a:latin typeface="Trebuchet MS"/>
                <a:cs typeface="Trebuchet MS"/>
              </a:rPr>
              <a:t>Btast</a:t>
            </a:r>
            <a:endParaRPr sz="25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703077" y="1176020"/>
            <a:ext cx="14890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75" dirty="0">
                <a:latin typeface="Trebuchet MS"/>
                <a:cs typeface="Trebuchet MS"/>
              </a:rPr>
              <a:t>Prototype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85" dirty="0"/>
              <a:t>ACOUSTIC</a:t>
            </a:r>
            <a:r>
              <a:rPr spc="-10" dirty="0"/>
              <a:t> </a:t>
            </a:r>
            <a:r>
              <a:rPr spc="-484" dirty="0"/>
              <a:t>SENSOR</a:t>
            </a:r>
            <a:r>
              <a:rPr spc="-5" dirty="0"/>
              <a:t> </a:t>
            </a:r>
            <a:r>
              <a:rPr spc="-310" dirty="0"/>
              <a:t>(DRONE/BIRD</a:t>
            </a:r>
            <a:r>
              <a:rPr spc="35" dirty="0"/>
              <a:t> </a:t>
            </a:r>
            <a:r>
              <a:rPr spc="-380" dirty="0"/>
              <a:t>DETECTION)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105" y="1827212"/>
            <a:ext cx="4733925" cy="33585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25"/>
              </a:spcBef>
              <a:buSzPct val="127906"/>
              <a:buFont typeface="Microsoft Sans Serif"/>
              <a:buChar char="•"/>
              <a:tabLst>
                <a:tab pos="240029" algn="l"/>
              </a:tabLst>
            </a:pPr>
            <a:r>
              <a:rPr sz="2150" spc="-270" dirty="0">
                <a:latin typeface="Arial MT"/>
                <a:cs typeface="Arial MT"/>
              </a:rPr>
              <a:t>Uses</a:t>
            </a:r>
            <a:r>
              <a:rPr sz="2150" spc="1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a</a:t>
            </a:r>
            <a:r>
              <a:rPr sz="2150" spc="10" dirty="0">
                <a:latin typeface="Arial MT"/>
                <a:cs typeface="Arial MT"/>
              </a:rPr>
              <a:t> </a:t>
            </a:r>
            <a:r>
              <a:rPr sz="2150" spc="-150" dirty="0">
                <a:latin typeface="Arial MT"/>
                <a:cs typeface="Arial MT"/>
              </a:rPr>
              <a:t>microphone</a:t>
            </a:r>
            <a:r>
              <a:rPr sz="2150" spc="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to</a:t>
            </a:r>
            <a:r>
              <a:rPr sz="2150" spc="5" dirty="0">
                <a:latin typeface="Arial MT"/>
                <a:cs typeface="Arial MT"/>
              </a:rPr>
              <a:t> </a:t>
            </a:r>
            <a:r>
              <a:rPr sz="2150" spc="-110" dirty="0">
                <a:latin typeface="Arial MT"/>
                <a:cs typeface="Arial MT"/>
              </a:rPr>
              <a:t>monitor</a:t>
            </a:r>
            <a:r>
              <a:rPr sz="2150" spc="-5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sound</a:t>
            </a:r>
            <a:endParaRPr sz="215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50"/>
              </a:spcBef>
            </a:pPr>
            <a:r>
              <a:rPr sz="2150" spc="-10" dirty="0">
                <a:latin typeface="Arial MT"/>
                <a:cs typeface="Arial MT"/>
              </a:rPr>
              <a:t>patterns</a:t>
            </a:r>
            <a:endParaRPr sz="2150">
              <a:latin typeface="Arial MT"/>
              <a:cs typeface="Arial MT"/>
            </a:endParaRPr>
          </a:p>
          <a:p>
            <a:pPr marL="318770" indent="-306070">
              <a:lnSpc>
                <a:spcPct val="100000"/>
              </a:lnSpc>
              <a:spcBef>
                <a:spcPts val="1025"/>
              </a:spcBef>
              <a:buSzPct val="127906"/>
              <a:buFont typeface="Microsoft Sans Serif"/>
              <a:buChar char="•"/>
              <a:tabLst>
                <a:tab pos="318770" algn="l"/>
              </a:tabLst>
            </a:pPr>
            <a:r>
              <a:rPr sz="2150" spc="-190" dirty="0">
                <a:latin typeface="Arial MT"/>
                <a:cs typeface="Arial MT"/>
              </a:rPr>
              <a:t>Drones</a:t>
            </a:r>
            <a:r>
              <a:rPr sz="2150" spc="25" dirty="0">
                <a:latin typeface="Arial MT"/>
                <a:cs typeface="Arial MT"/>
              </a:rPr>
              <a:t> </a:t>
            </a:r>
            <a:r>
              <a:rPr sz="2150" spc="-70" dirty="0">
                <a:latin typeface="Arial MT"/>
                <a:cs typeface="Arial MT"/>
              </a:rPr>
              <a:t>generate</a:t>
            </a:r>
            <a:r>
              <a:rPr sz="2150" spc="-80" dirty="0">
                <a:latin typeface="Arial MT"/>
                <a:cs typeface="Arial MT"/>
              </a:rPr>
              <a:t> </a:t>
            </a:r>
            <a:r>
              <a:rPr sz="2150" spc="-70" dirty="0">
                <a:latin typeface="Arial MT"/>
                <a:cs typeface="Arial MT"/>
              </a:rPr>
              <a:t>steady</a:t>
            </a:r>
            <a:r>
              <a:rPr sz="2150" spc="-55" dirty="0">
                <a:latin typeface="Arial MT"/>
                <a:cs typeface="Arial MT"/>
              </a:rPr>
              <a:t> </a:t>
            </a:r>
            <a:r>
              <a:rPr sz="2150" spc="-95" dirty="0">
                <a:latin typeface="Arial MT"/>
                <a:cs typeface="Arial MT"/>
              </a:rPr>
              <a:t>buzzing</a:t>
            </a:r>
            <a:r>
              <a:rPr sz="2150" spc="20" dirty="0">
                <a:latin typeface="Arial MT"/>
                <a:cs typeface="Arial MT"/>
              </a:rPr>
              <a:t> </a:t>
            </a:r>
            <a:r>
              <a:rPr sz="2150" spc="-170" dirty="0">
                <a:latin typeface="Arial MT"/>
                <a:cs typeface="Arial MT"/>
              </a:rPr>
              <a:t>sounds</a:t>
            </a:r>
            <a:endParaRPr sz="215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1100"/>
              </a:spcBef>
              <a:buSzPct val="127906"/>
              <a:buFont typeface="Microsoft Sans Serif"/>
              <a:buChar char="•"/>
              <a:tabLst>
                <a:tab pos="240029" algn="l"/>
              </a:tabLst>
            </a:pPr>
            <a:r>
              <a:rPr sz="2150" spc="-135" dirty="0">
                <a:latin typeface="Arial MT"/>
                <a:cs typeface="Arial MT"/>
              </a:rPr>
              <a:t>Birds</a:t>
            </a:r>
            <a:r>
              <a:rPr sz="2150" dirty="0">
                <a:latin typeface="Arial MT"/>
                <a:cs typeface="Arial MT"/>
              </a:rPr>
              <a:t> </a:t>
            </a:r>
            <a:r>
              <a:rPr sz="2150" spc="-100" dirty="0">
                <a:latin typeface="Arial MT"/>
                <a:cs typeface="Arial MT"/>
              </a:rPr>
              <a:t>produce</a:t>
            </a:r>
            <a:r>
              <a:rPr sz="2150" spc="-50" dirty="0">
                <a:latin typeface="Arial MT"/>
                <a:cs typeface="Arial MT"/>
              </a:rPr>
              <a:t> </a:t>
            </a:r>
            <a:r>
              <a:rPr sz="2150" spc="-45" dirty="0">
                <a:latin typeface="Arial MT"/>
                <a:cs typeface="Arial MT"/>
              </a:rPr>
              <a:t>irregular,</a:t>
            </a:r>
            <a:r>
              <a:rPr sz="2150" spc="-40" dirty="0">
                <a:latin typeface="Arial MT"/>
                <a:cs typeface="Arial MT"/>
              </a:rPr>
              <a:t> </a:t>
            </a:r>
            <a:r>
              <a:rPr sz="2150" spc="-100" dirty="0">
                <a:latin typeface="Arial MT"/>
                <a:cs typeface="Arial MT"/>
              </a:rPr>
              <a:t>short-</a:t>
            </a:r>
            <a:r>
              <a:rPr sz="2150" spc="-10" dirty="0">
                <a:latin typeface="Arial MT"/>
                <a:cs typeface="Arial MT"/>
              </a:rPr>
              <a:t>duration</a:t>
            </a:r>
            <a:endParaRPr sz="215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50"/>
              </a:spcBef>
            </a:pPr>
            <a:r>
              <a:rPr sz="2150" spc="-10" dirty="0">
                <a:latin typeface="Arial MT"/>
                <a:cs typeface="Arial MT"/>
              </a:rPr>
              <a:t>chirps</a:t>
            </a:r>
            <a:endParaRPr sz="2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150" b="1" spc="-200" dirty="0">
                <a:latin typeface="Arial"/>
                <a:cs typeface="Arial"/>
              </a:rPr>
              <a:t>Sound</a:t>
            </a:r>
            <a:r>
              <a:rPr sz="2150" b="1" spc="5" dirty="0">
                <a:latin typeface="Arial"/>
                <a:cs typeface="Arial"/>
              </a:rPr>
              <a:t> </a:t>
            </a:r>
            <a:r>
              <a:rPr sz="2150" b="1" spc="-155" dirty="0">
                <a:latin typeface="Arial"/>
                <a:cs typeface="Arial"/>
              </a:rPr>
              <a:t>based</a:t>
            </a:r>
            <a:r>
              <a:rPr sz="2150" b="1" spc="10" dirty="0">
                <a:latin typeface="Arial"/>
                <a:cs typeface="Arial"/>
              </a:rPr>
              <a:t> </a:t>
            </a:r>
            <a:r>
              <a:rPr sz="2150" b="1" spc="-70" dirty="0">
                <a:latin typeface="Arial"/>
                <a:cs typeface="Arial"/>
              </a:rPr>
              <a:t>Classification:</a:t>
            </a:r>
            <a:endParaRPr sz="215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425"/>
              </a:spcBef>
              <a:buSzPct val="127906"/>
              <a:buAutoNum type="arabicPeriod"/>
              <a:tabLst>
                <a:tab pos="469900" algn="l"/>
              </a:tabLst>
            </a:pPr>
            <a:r>
              <a:rPr sz="2150" spc="-185" dirty="0">
                <a:latin typeface="Arial MT"/>
                <a:cs typeface="Arial MT"/>
              </a:rPr>
              <a:t>Continuous</a:t>
            </a:r>
            <a:r>
              <a:rPr sz="2150" spc="35" dirty="0">
                <a:latin typeface="Arial MT"/>
                <a:cs typeface="Arial MT"/>
              </a:rPr>
              <a:t> </a:t>
            </a:r>
            <a:r>
              <a:rPr sz="2150" spc="-60" dirty="0">
                <a:latin typeface="Arial MT"/>
                <a:cs typeface="Arial MT"/>
              </a:rPr>
              <a:t>stable</a:t>
            </a:r>
            <a:r>
              <a:rPr sz="2150" spc="45" dirty="0">
                <a:latin typeface="Arial MT"/>
                <a:cs typeface="Arial MT"/>
              </a:rPr>
              <a:t> </a:t>
            </a:r>
            <a:r>
              <a:rPr sz="2150" spc="-140" dirty="0">
                <a:latin typeface="Arial MT"/>
                <a:cs typeface="Arial MT"/>
              </a:rPr>
              <a:t>sound</a:t>
            </a:r>
            <a:r>
              <a:rPr sz="2150" spc="-140" dirty="0">
                <a:latin typeface="Microsoft Sans Serif"/>
                <a:cs typeface="Microsoft Sans Serif"/>
              </a:rPr>
              <a:t>→</a:t>
            </a:r>
            <a:r>
              <a:rPr sz="2150" spc="-140" dirty="0">
                <a:latin typeface="Arial MT"/>
                <a:cs typeface="Arial MT"/>
              </a:rPr>
              <a:t>Drone-</a:t>
            </a:r>
            <a:r>
              <a:rPr sz="2150" spc="-20" dirty="0">
                <a:latin typeface="Arial MT"/>
                <a:cs typeface="Arial MT"/>
              </a:rPr>
              <a:t>like</a:t>
            </a:r>
            <a:endParaRPr sz="2150">
              <a:latin typeface="Arial MT"/>
              <a:cs typeface="Arial MT"/>
            </a:endParaRPr>
          </a:p>
          <a:p>
            <a:pPr marL="547370" indent="-534670">
              <a:lnSpc>
                <a:spcPct val="100000"/>
              </a:lnSpc>
              <a:spcBef>
                <a:spcPts val="380"/>
              </a:spcBef>
              <a:buSzPct val="127906"/>
              <a:buAutoNum type="arabicPeriod"/>
              <a:tabLst>
                <a:tab pos="547370" algn="l"/>
              </a:tabLst>
            </a:pPr>
            <a:r>
              <a:rPr sz="2150" spc="-65" dirty="0">
                <a:latin typeface="Arial MT"/>
                <a:cs typeface="Arial MT"/>
              </a:rPr>
              <a:t>Randompeaks</a:t>
            </a:r>
            <a:r>
              <a:rPr sz="2150" spc="-65" dirty="0">
                <a:latin typeface="Microsoft Sans Serif"/>
                <a:cs typeface="Microsoft Sans Serif"/>
              </a:rPr>
              <a:t>→</a:t>
            </a:r>
            <a:r>
              <a:rPr sz="2150" spc="-65" dirty="0">
                <a:latin typeface="Arial MT"/>
                <a:cs typeface="Arial MT"/>
              </a:rPr>
              <a:t>Bird/noise</a:t>
            </a:r>
            <a:endParaRPr sz="21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48600" y="2057400"/>
            <a:ext cx="3419475" cy="30003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1105" y="1023238"/>
            <a:ext cx="896683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4400" spc="-465" dirty="0">
                <a:latin typeface="+mn-lt"/>
              </a:rPr>
              <a:t>PASSIVE DETECTION UNIT</a:t>
            </a:r>
            <a:endParaRPr sz="4400" spc="-275" dirty="0"/>
          </a:p>
        </p:txBody>
      </p:sp>
      <p:sp>
        <p:nvSpPr>
          <p:cNvPr id="3" name="object 3"/>
          <p:cNvSpPr txBox="1"/>
          <p:nvPr/>
        </p:nvSpPr>
        <p:spPr>
          <a:xfrm>
            <a:off x="1221105" y="2245090"/>
            <a:ext cx="5769610" cy="334581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670"/>
              </a:spcBef>
              <a:buSzPct val="127906"/>
              <a:buFont typeface="Microsoft Sans Serif"/>
              <a:buChar char="•"/>
              <a:tabLst>
                <a:tab pos="240029" algn="l"/>
              </a:tabLst>
            </a:pPr>
            <a:r>
              <a:rPr sz="2150" spc="-110" dirty="0">
                <a:latin typeface="Arial MT"/>
                <a:cs typeface="Arial MT"/>
              </a:rPr>
              <a:t>Monitors</a:t>
            </a:r>
            <a:r>
              <a:rPr sz="2150" spc="-50" dirty="0">
                <a:latin typeface="Arial MT"/>
                <a:cs typeface="Arial MT"/>
              </a:rPr>
              <a:t> </a:t>
            </a:r>
            <a:r>
              <a:rPr sz="2150" spc="-120" dirty="0">
                <a:latin typeface="Arial MT"/>
                <a:cs typeface="Arial MT"/>
              </a:rPr>
              <a:t>wireless</a:t>
            </a:r>
            <a:r>
              <a:rPr sz="2150" spc="-30" dirty="0">
                <a:latin typeface="Arial MT"/>
                <a:cs typeface="Arial MT"/>
              </a:rPr>
              <a:t> </a:t>
            </a:r>
            <a:r>
              <a:rPr sz="2150" spc="-90" dirty="0">
                <a:latin typeface="Arial MT"/>
                <a:cs typeface="Arial MT"/>
              </a:rPr>
              <a:t>signal</a:t>
            </a:r>
            <a:r>
              <a:rPr sz="2150" spc="-60" dirty="0">
                <a:latin typeface="Arial MT"/>
                <a:cs typeface="Arial MT"/>
              </a:rPr>
              <a:t> </a:t>
            </a:r>
            <a:r>
              <a:rPr sz="2150" spc="-30" dirty="0">
                <a:latin typeface="Arial MT"/>
                <a:cs typeface="Arial MT"/>
              </a:rPr>
              <a:t>activity</a:t>
            </a:r>
            <a:r>
              <a:rPr sz="2150" spc="-45" dirty="0">
                <a:latin typeface="Arial MT"/>
                <a:cs typeface="Arial MT"/>
              </a:rPr>
              <a:t> </a:t>
            </a:r>
            <a:r>
              <a:rPr sz="2150" spc="-50" dirty="0">
                <a:latin typeface="Arial MT"/>
                <a:cs typeface="Arial MT"/>
              </a:rPr>
              <a:t>in</a:t>
            </a:r>
            <a:r>
              <a:rPr sz="2150" spc="-45" dirty="0">
                <a:latin typeface="Arial MT"/>
                <a:cs typeface="Arial MT"/>
              </a:rPr>
              <a:t> </a:t>
            </a:r>
            <a:r>
              <a:rPr sz="2150" spc="-125" dirty="0">
                <a:latin typeface="Arial MT"/>
                <a:cs typeface="Arial MT"/>
              </a:rPr>
              <a:t>the</a:t>
            </a:r>
            <a:r>
              <a:rPr sz="2150" spc="-25" dirty="0">
                <a:latin typeface="Arial MT"/>
                <a:cs typeface="Arial MT"/>
              </a:rPr>
              <a:t> </a:t>
            </a:r>
            <a:r>
              <a:rPr sz="2150" spc="-100" dirty="0">
                <a:latin typeface="Arial MT"/>
                <a:cs typeface="Arial MT"/>
              </a:rPr>
              <a:t>surrounding</a:t>
            </a:r>
            <a:endParaRPr sz="2150" dirty="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575"/>
              </a:spcBef>
            </a:pPr>
            <a:r>
              <a:rPr sz="2150" spc="-20" dirty="0">
                <a:latin typeface="Arial MT"/>
                <a:cs typeface="Arial MT"/>
              </a:rPr>
              <a:t>area</a:t>
            </a:r>
            <a:endParaRPr sz="2150" dirty="0">
              <a:latin typeface="Arial MT"/>
              <a:cs typeface="Arial MT"/>
            </a:endParaRPr>
          </a:p>
          <a:p>
            <a:pPr marL="318770" indent="-306070">
              <a:lnSpc>
                <a:spcPct val="100000"/>
              </a:lnSpc>
              <a:spcBef>
                <a:spcPts val="1550"/>
              </a:spcBef>
              <a:buSzPct val="127906"/>
              <a:buFont typeface="Microsoft Sans Serif"/>
              <a:buChar char="•"/>
              <a:tabLst>
                <a:tab pos="318770" algn="l"/>
              </a:tabLst>
            </a:pPr>
            <a:r>
              <a:rPr sz="2150" spc="-185" dirty="0">
                <a:latin typeface="Arial MT"/>
                <a:cs typeface="Arial MT"/>
              </a:rPr>
              <a:t>Drones</a:t>
            </a:r>
            <a:r>
              <a:rPr sz="2150" spc="35" dirty="0">
                <a:latin typeface="Arial MT"/>
                <a:cs typeface="Arial MT"/>
              </a:rPr>
              <a:t> </a:t>
            </a:r>
            <a:r>
              <a:rPr sz="2150" spc="-70" dirty="0" err="1">
                <a:latin typeface="Arial MT"/>
                <a:cs typeface="Arial MT"/>
              </a:rPr>
              <a:t>relyon</a:t>
            </a:r>
            <a:r>
              <a:rPr sz="2150" spc="-55" dirty="0">
                <a:latin typeface="Arial MT"/>
                <a:cs typeface="Arial MT"/>
              </a:rPr>
              <a:t> </a:t>
            </a:r>
            <a:r>
              <a:rPr sz="2150" spc="-405" dirty="0">
                <a:latin typeface="Arial MT"/>
                <a:cs typeface="Arial MT"/>
              </a:rPr>
              <a:t>R</a:t>
            </a:r>
            <a:r>
              <a:rPr lang="en-IN" sz="2150" spc="-405" dirty="0">
                <a:latin typeface="Arial MT"/>
                <a:cs typeface="Arial MT"/>
              </a:rPr>
              <a:t>  </a:t>
            </a:r>
            <a:r>
              <a:rPr sz="2150" spc="-405" dirty="0">
                <a:latin typeface="Arial MT"/>
                <a:cs typeface="Arial MT"/>
              </a:rPr>
              <a:t>F</a:t>
            </a:r>
            <a:r>
              <a:rPr sz="2150" spc="20" dirty="0">
                <a:latin typeface="Arial MT"/>
                <a:cs typeface="Arial MT"/>
              </a:rPr>
              <a:t> </a:t>
            </a:r>
            <a:r>
              <a:rPr sz="2150" spc="-165" dirty="0">
                <a:latin typeface="Arial MT"/>
                <a:cs typeface="Arial MT"/>
              </a:rPr>
              <a:t>communication</a:t>
            </a:r>
            <a:r>
              <a:rPr sz="2150" spc="15" dirty="0">
                <a:latin typeface="Arial MT"/>
                <a:cs typeface="Arial MT"/>
              </a:rPr>
              <a:t> </a:t>
            </a:r>
            <a:r>
              <a:rPr sz="2150" spc="-65" dirty="0">
                <a:latin typeface="Arial MT"/>
                <a:cs typeface="Arial MT"/>
              </a:rPr>
              <a:t>with</a:t>
            </a:r>
            <a:r>
              <a:rPr sz="2150" spc="-10" dirty="0">
                <a:latin typeface="Arial MT"/>
                <a:cs typeface="Arial MT"/>
              </a:rPr>
              <a:t> controllers</a:t>
            </a:r>
            <a:endParaRPr sz="2150" dirty="0">
              <a:latin typeface="Arial MT"/>
              <a:cs typeface="Arial MT"/>
            </a:endParaRPr>
          </a:p>
          <a:p>
            <a:pPr marL="318770" indent="-306070">
              <a:lnSpc>
                <a:spcPct val="100000"/>
              </a:lnSpc>
              <a:spcBef>
                <a:spcPts val="1630"/>
              </a:spcBef>
              <a:buSzPct val="127906"/>
              <a:buFont typeface="Microsoft Sans Serif"/>
              <a:buChar char="•"/>
              <a:tabLst>
                <a:tab pos="318770" algn="l"/>
              </a:tabLst>
            </a:pPr>
            <a:r>
              <a:rPr sz="2150" spc="-114" dirty="0">
                <a:latin typeface="Arial MT"/>
                <a:cs typeface="Arial MT"/>
              </a:rPr>
              <a:t>High</a:t>
            </a:r>
            <a:r>
              <a:rPr sz="2150" spc="-35" dirty="0">
                <a:latin typeface="Arial MT"/>
                <a:cs typeface="Arial MT"/>
              </a:rPr>
              <a:t> </a:t>
            </a:r>
            <a:r>
              <a:rPr sz="2150" spc="-405" dirty="0">
                <a:latin typeface="Arial MT"/>
                <a:cs typeface="Arial MT"/>
              </a:rPr>
              <a:t>RF</a:t>
            </a:r>
            <a:r>
              <a:rPr sz="2150" spc="20" dirty="0">
                <a:latin typeface="Arial MT"/>
                <a:cs typeface="Arial MT"/>
              </a:rPr>
              <a:t> </a:t>
            </a:r>
            <a:r>
              <a:rPr sz="2150" spc="-30" dirty="0">
                <a:latin typeface="Arial MT"/>
                <a:cs typeface="Arial MT"/>
              </a:rPr>
              <a:t>activity</a:t>
            </a:r>
            <a:r>
              <a:rPr sz="2150" spc="-60" dirty="0">
                <a:latin typeface="Arial MT"/>
                <a:cs typeface="Arial MT"/>
              </a:rPr>
              <a:t> </a:t>
            </a:r>
            <a:r>
              <a:rPr sz="2150" spc="-105" dirty="0">
                <a:latin typeface="Arial MT"/>
                <a:cs typeface="Arial MT"/>
              </a:rPr>
              <a:t>indicates:</a:t>
            </a:r>
            <a:r>
              <a:rPr sz="2150" spc="5" dirty="0">
                <a:latin typeface="Arial MT"/>
                <a:cs typeface="Arial MT"/>
              </a:rPr>
              <a:t> </a:t>
            </a:r>
            <a:r>
              <a:rPr sz="2150" spc="-175" dirty="0">
                <a:latin typeface="Arial MT"/>
                <a:cs typeface="Arial MT"/>
              </a:rPr>
              <a:t>Possible</a:t>
            </a:r>
            <a:r>
              <a:rPr sz="2150" spc="-40" dirty="0">
                <a:latin typeface="Arial MT"/>
                <a:cs typeface="Arial MT"/>
              </a:rPr>
              <a:t> </a:t>
            </a:r>
            <a:r>
              <a:rPr sz="2150" spc="-80" dirty="0">
                <a:latin typeface="Arial MT"/>
                <a:cs typeface="Arial MT"/>
              </a:rPr>
              <a:t>drone</a:t>
            </a:r>
            <a:r>
              <a:rPr sz="2150" spc="-5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control</a:t>
            </a:r>
            <a:endParaRPr sz="2150" dirty="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570"/>
              </a:spcBef>
            </a:pPr>
            <a:r>
              <a:rPr sz="2150" spc="-130" dirty="0">
                <a:latin typeface="Arial MT"/>
                <a:cs typeface="Arial MT"/>
              </a:rPr>
              <a:t>signals</a:t>
            </a:r>
            <a:r>
              <a:rPr sz="2150" dirty="0">
                <a:latin typeface="Arial MT"/>
                <a:cs typeface="Arial MT"/>
              </a:rPr>
              <a:t> </a:t>
            </a:r>
            <a:r>
              <a:rPr sz="2150" spc="-60" dirty="0">
                <a:latin typeface="Arial MT"/>
                <a:cs typeface="Arial MT"/>
              </a:rPr>
              <a:t>and</a:t>
            </a:r>
            <a:r>
              <a:rPr sz="2150" spc="-15" dirty="0">
                <a:latin typeface="Arial MT"/>
                <a:cs typeface="Arial MT"/>
              </a:rPr>
              <a:t> </a:t>
            </a:r>
            <a:r>
              <a:rPr sz="2150" spc="-190" dirty="0">
                <a:latin typeface="Arial MT"/>
                <a:cs typeface="Arial MT"/>
              </a:rPr>
              <a:t>Suspicious</a:t>
            </a:r>
            <a:r>
              <a:rPr sz="2150" spc="2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air</a:t>
            </a:r>
            <a:r>
              <a:rPr sz="2150" spc="1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activity</a:t>
            </a:r>
            <a:endParaRPr sz="21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630"/>
              </a:spcBef>
            </a:pPr>
            <a:r>
              <a:rPr sz="2150" b="1" spc="-10" dirty="0">
                <a:latin typeface="Arial"/>
                <a:cs typeface="Arial"/>
              </a:rPr>
              <a:t>Advantage</a:t>
            </a:r>
            <a:r>
              <a:rPr sz="2150" spc="-10" dirty="0">
                <a:latin typeface="Arial MT"/>
                <a:cs typeface="Arial MT"/>
              </a:rPr>
              <a:t>:</a:t>
            </a:r>
            <a:endParaRPr sz="21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50"/>
              </a:spcBef>
            </a:pPr>
            <a:r>
              <a:rPr sz="2150" spc="-220" dirty="0">
                <a:latin typeface="Arial MT"/>
                <a:cs typeface="Arial MT"/>
              </a:rPr>
              <a:t>Passive</a:t>
            </a:r>
            <a:r>
              <a:rPr sz="2150" spc="35" dirty="0">
                <a:latin typeface="Arial MT"/>
                <a:cs typeface="Arial MT"/>
              </a:rPr>
              <a:t> </a:t>
            </a:r>
            <a:r>
              <a:rPr sz="2150" spc="-90" dirty="0">
                <a:latin typeface="Arial MT"/>
                <a:cs typeface="Arial MT"/>
              </a:rPr>
              <a:t>detection</a:t>
            </a:r>
            <a:r>
              <a:rPr sz="2150" spc="-6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No</a:t>
            </a:r>
            <a:r>
              <a:rPr sz="2150" spc="-35" dirty="0">
                <a:latin typeface="Arial MT"/>
                <a:cs typeface="Arial MT"/>
              </a:rPr>
              <a:t> </a:t>
            </a:r>
            <a:r>
              <a:rPr sz="2150" spc="-90" dirty="0">
                <a:latin typeface="Arial MT"/>
                <a:cs typeface="Arial MT"/>
              </a:rPr>
              <a:t>signal</a:t>
            </a:r>
            <a:r>
              <a:rPr sz="2150" spc="-5" dirty="0">
                <a:latin typeface="Arial MT"/>
                <a:cs typeface="Arial MT"/>
              </a:rPr>
              <a:t> </a:t>
            </a:r>
            <a:r>
              <a:rPr sz="2150" spc="-95" dirty="0">
                <a:latin typeface="Arial MT"/>
                <a:cs typeface="Arial MT"/>
              </a:rPr>
              <a:t>transmission(stealthy)1q</a:t>
            </a:r>
            <a:endParaRPr sz="215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01000" y="2209800"/>
            <a:ext cx="3800475" cy="2781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6201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40" dirty="0"/>
              <a:t>EMBBED</a:t>
            </a:r>
            <a:r>
              <a:rPr lang="en-IN" spc="-540" dirty="0"/>
              <a:t>DED</a:t>
            </a:r>
            <a:r>
              <a:rPr spc="-30" dirty="0"/>
              <a:t> </a:t>
            </a:r>
            <a:r>
              <a:rPr spc="-400" dirty="0"/>
              <a:t>CONTROL</a:t>
            </a:r>
            <a:r>
              <a:rPr spc="-55" dirty="0"/>
              <a:t> </a:t>
            </a:r>
            <a:r>
              <a:rPr spc="-275" dirty="0"/>
              <a:t>UNIT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105" y="2214978"/>
            <a:ext cx="4096385" cy="3761927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535"/>
              </a:spcBef>
              <a:buSzPct val="122500"/>
              <a:buFont typeface="Microsoft Sans Serif"/>
              <a:buChar char="•"/>
              <a:tabLst>
                <a:tab pos="240665" algn="l"/>
              </a:tabLst>
            </a:pPr>
            <a:r>
              <a:rPr sz="2000" spc="-250" dirty="0">
                <a:latin typeface="Arial MT"/>
                <a:cs typeface="Arial MT"/>
              </a:rPr>
              <a:t>The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spc="-190" dirty="0">
                <a:latin typeface="Arial MT"/>
                <a:cs typeface="Arial MT"/>
              </a:rPr>
              <a:t>system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75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120" dirty="0">
                <a:latin typeface="Arial MT"/>
                <a:cs typeface="Arial MT"/>
              </a:rPr>
              <a:t>implemented</a:t>
            </a:r>
            <a:r>
              <a:rPr sz="2000" spc="-10" dirty="0">
                <a:latin typeface="Arial MT"/>
                <a:cs typeface="Arial MT"/>
              </a:rPr>
              <a:t> using:</a:t>
            </a:r>
            <a:endParaRPr sz="2000" dirty="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980"/>
              </a:spcBef>
              <a:buSzPct val="122500"/>
              <a:buFont typeface="Microsoft Sans Serif"/>
              <a:buChar char="•"/>
              <a:tabLst>
                <a:tab pos="240665" algn="l"/>
              </a:tabLst>
            </a:pPr>
            <a:r>
              <a:rPr sz="2000" spc="-140" dirty="0">
                <a:latin typeface="Arial MT"/>
                <a:cs typeface="Arial MT"/>
              </a:rPr>
              <a:t>Arduino</a:t>
            </a:r>
            <a:r>
              <a:rPr lang="en-IN" sz="2000" spc="-140" dirty="0">
                <a:latin typeface="Arial MT"/>
                <a:cs typeface="Arial MT"/>
              </a:rPr>
              <a:t> </a:t>
            </a:r>
            <a:r>
              <a:rPr sz="2000" spc="-140" dirty="0">
                <a:latin typeface="Arial MT"/>
                <a:cs typeface="Arial MT"/>
              </a:rPr>
              <a:t>or</a:t>
            </a:r>
            <a:r>
              <a:rPr lang="en-IN" sz="2000" spc="-140" dirty="0">
                <a:latin typeface="Arial MT"/>
                <a:cs typeface="Arial MT"/>
              </a:rPr>
              <a:t> </a:t>
            </a:r>
            <a:r>
              <a:rPr sz="2000" spc="-140" dirty="0">
                <a:latin typeface="Arial MT"/>
                <a:cs typeface="Arial MT"/>
              </a:rPr>
              <a:t>ESP32,based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60" dirty="0">
                <a:latin typeface="Arial MT"/>
                <a:cs typeface="Arial MT"/>
              </a:rPr>
              <a:t>on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availability</a:t>
            </a:r>
            <a:endParaRPr sz="2000" dirty="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055"/>
              </a:spcBef>
              <a:buSzPct val="122500"/>
              <a:buFont typeface="Microsoft Sans Serif"/>
              <a:buChar char="•"/>
              <a:tabLst>
                <a:tab pos="240665" algn="l"/>
              </a:tabLst>
            </a:pPr>
            <a:r>
              <a:rPr sz="2000" spc="-210" dirty="0">
                <a:latin typeface="Arial MT"/>
                <a:cs typeface="Arial MT"/>
              </a:rPr>
              <a:t>Functions</a:t>
            </a:r>
            <a:r>
              <a:rPr sz="2000" spc="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55" dirty="0">
                <a:latin typeface="Arial MT"/>
                <a:cs typeface="Arial MT"/>
              </a:rPr>
              <a:t> </a:t>
            </a:r>
            <a:r>
              <a:rPr sz="2000" spc="-125" dirty="0">
                <a:latin typeface="Arial MT"/>
                <a:cs typeface="Arial MT"/>
              </a:rPr>
              <a:t>the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controller:</a:t>
            </a:r>
            <a:endParaRPr sz="2000" dirty="0">
              <a:latin typeface="Arial MT"/>
              <a:cs typeface="Arial MT"/>
            </a:endParaRPr>
          </a:p>
          <a:p>
            <a:pPr marL="240665" lvl="5" indent="-227965">
              <a:spcBef>
                <a:spcPts val="980"/>
              </a:spcBef>
              <a:buSzPct val="122500"/>
              <a:buFont typeface="Microsoft Sans Serif"/>
              <a:buChar char="•"/>
              <a:tabLst>
                <a:tab pos="240665" algn="l"/>
              </a:tabLst>
            </a:pPr>
            <a:r>
              <a:rPr sz="2000" spc="-200" dirty="0">
                <a:latin typeface="Arial MT"/>
                <a:cs typeface="Arial MT"/>
              </a:rPr>
              <a:t>Sensor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acquisition</a:t>
            </a:r>
            <a:endParaRPr sz="2000" dirty="0">
              <a:latin typeface="Arial MT"/>
              <a:cs typeface="Arial MT"/>
            </a:endParaRPr>
          </a:p>
          <a:p>
            <a:pPr marL="240665" lvl="1" indent="-227965">
              <a:spcBef>
                <a:spcPts val="980"/>
              </a:spcBef>
              <a:buSzPct val="122500"/>
              <a:buFont typeface="Microsoft Sans Serif"/>
              <a:buChar char="•"/>
              <a:tabLst>
                <a:tab pos="240665" algn="l"/>
              </a:tabLst>
            </a:pPr>
            <a:r>
              <a:rPr sz="2000" spc="-130" dirty="0">
                <a:latin typeface="Arial MT"/>
                <a:cs typeface="Arial MT"/>
              </a:rPr>
              <a:t>Pattern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recognition</a:t>
            </a:r>
            <a:endParaRPr sz="2000" dirty="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050"/>
              </a:spcBef>
              <a:buSzPct val="122500"/>
              <a:buFont typeface="Microsoft Sans Serif"/>
              <a:buChar char="•"/>
              <a:tabLst>
                <a:tab pos="240665" algn="l"/>
              </a:tabLst>
            </a:pPr>
            <a:r>
              <a:rPr sz="2000" spc="-195" dirty="0">
                <a:latin typeface="Arial MT"/>
                <a:cs typeface="Arial MT"/>
              </a:rPr>
              <a:t>Sensor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fusion</a:t>
            </a:r>
            <a:endParaRPr sz="2000" dirty="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980"/>
              </a:spcBef>
              <a:buSzPct val="122500"/>
              <a:buFont typeface="Microsoft Sans Serif"/>
              <a:buChar char="•"/>
              <a:tabLst>
                <a:tab pos="240665" algn="l"/>
              </a:tabLst>
            </a:pPr>
            <a:r>
              <a:rPr sz="2000" spc="-125" dirty="0">
                <a:latin typeface="Arial MT"/>
                <a:cs typeface="Arial MT"/>
              </a:rPr>
              <a:t>Threat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45" dirty="0">
                <a:latin typeface="Arial MT"/>
                <a:cs typeface="Arial MT"/>
              </a:rPr>
              <a:t>classification</a:t>
            </a:r>
            <a:endParaRPr sz="2000" dirty="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980"/>
              </a:spcBef>
              <a:buSzPct val="122500"/>
              <a:buFont typeface="Microsoft Sans Serif"/>
              <a:buChar char="•"/>
              <a:tabLst>
                <a:tab pos="240665" algn="l"/>
              </a:tabLst>
            </a:pPr>
            <a:r>
              <a:rPr sz="2000" spc="-95" dirty="0">
                <a:latin typeface="Arial MT"/>
                <a:cs typeface="Arial MT"/>
              </a:rPr>
              <a:t>Output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control</a:t>
            </a:r>
            <a:endParaRPr sz="20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57925" y="2247900"/>
            <a:ext cx="5095875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84" dirty="0"/>
              <a:t>SENSOR</a:t>
            </a:r>
            <a:r>
              <a:rPr spc="-25" dirty="0"/>
              <a:t> </a:t>
            </a:r>
            <a:r>
              <a:rPr spc="-320" dirty="0"/>
              <a:t>FUSION</a:t>
            </a:r>
            <a:r>
              <a:rPr spc="-15" dirty="0"/>
              <a:t> </a:t>
            </a:r>
            <a:r>
              <a:rPr spc="-434" dirty="0"/>
              <a:t>CONCEPT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105" y="2217684"/>
            <a:ext cx="5882005" cy="333692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60"/>
              </a:spcBef>
              <a:buSzPct val="125000"/>
              <a:buFont typeface="Microsoft Sans Serif"/>
              <a:buChar char="•"/>
              <a:tabLst>
                <a:tab pos="241300" algn="l"/>
              </a:tabLst>
            </a:pPr>
            <a:r>
              <a:rPr sz="2400" spc="-100" dirty="0">
                <a:latin typeface="Arial MT"/>
                <a:cs typeface="Arial MT"/>
              </a:rPr>
              <a:t>Individual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65" dirty="0">
                <a:latin typeface="Arial MT"/>
                <a:cs typeface="Arial MT"/>
              </a:rPr>
              <a:t>sensors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35" dirty="0">
                <a:latin typeface="Arial MT"/>
                <a:cs typeface="Arial MT"/>
              </a:rPr>
              <a:t>may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10" dirty="0">
                <a:latin typeface="Arial MT"/>
                <a:cs typeface="Arial MT"/>
              </a:rPr>
              <a:t>generate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80" dirty="0">
                <a:latin typeface="Arial MT"/>
                <a:cs typeface="Arial MT"/>
              </a:rPr>
              <a:t>false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alarms</a:t>
            </a:r>
            <a:endParaRPr sz="24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555"/>
              </a:spcBef>
              <a:buSzPct val="125000"/>
              <a:buFont typeface="Microsoft Sans Serif"/>
              <a:buChar char="•"/>
              <a:tabLst>
                <a:tab pos="241300" algn="l"/>
              </a:tabLst>
            </a:pPr>
            <a:r>
              <a:rPr sz="2400" spc="-170" dirty="0">
                <a:latin typeface="Arial MT"/>
                <a:cs typeface="Arial MT"/>
              </a:rPr>
              <a:t>Combining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sz="2400" spc="-114" dirty="0">
                <a:latin typeface="Arial MT"/>
                <a:cs typeface="Arial MT"/>
              </a:rPr>
              <a:t>multiple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265" dirty="0">
                <a:latin typeface="Arial MT"/>
                <a:cs typeface="Arial MT"/>
              </a:rPr>
              <a:t>sensors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80" dirty="0">
                <a:latin typeface="Arial MT"/>
                <a:cs typeface="Arial MT"/>
              </a:rPr>
              <a:t>improves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accuracy</a:t>
            </a:r>
            <a:endParaRPr sz="24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550"/>
              </a:spcBef>
              <a:buSzPct val="125000"/>
              <a:buFont typeface="Microsoft Sans Serif"/>
              <a:buChar char="•"/>
              <a:tabLst>
                <a:tab pos="241300" algn="l"/>
              </a:tabLst>
            </a:pPr>
            <a:r>
              <a:rPr sz="2400" b="1" spc="-70" dirty="0">
                <a:latin typeface="Arial"/>
                <a:cs typeface="Arial"/>
              </a:rPr>
              <a:t>Example:</a:t>
            </a:r>
            <a:endParaRPr sz="24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1625"/>
              </a:spcBef>
              <a:buSzPct val="125000"/>
              <a:buFont typeface="Microsoft Sans Serif"/>
              <a:buChar char="•"/>
              <a:tabLst>
                <a:tab pos="241300" algn="l"/>
              </a:tabLst>
            </a:pPr>
            <a:r>
              <a:rPr sz="2400" spc="-90" dirty="0">
                <a:latin typeface="Arial MT"/>
                <a:cs typeface="Arial MT"/>
              </a:rPr>
              <a:t>Rfactivity+drone-</a:t>
            </a:r>
            <a:r>
              <a:rPr sz="2400" spc="-170" dirty="0">
                <a:latin typeface="Arial MT"/>
                <a:cs typeface="Arial MT"/>
              </a:rPr>
              <a:t>likesound</a:t>
            </a:r>
            <a:r>
              <a:rPr sz="2400" spc="-170" dirty="0">
                <a:latin typeface="Microsoft Sans Serif"/>
                <a:cs typeface="Microsoft Sans Serif"/>
              </a:rPr>
              <a:t>→</a:t>
            </a:r>
            <a:r>
              <a:rPr sz="2400" spc="-170" dirty="0">
                <a:latin typeface="Arial MT"/>
                <a:cs typeface="Arial MT"/>
              </a:rPr>
              <a:t>Drone</a:t>
            </a:r>
            <a:r>
              <a:rPr sz="2400" spc="204" dirty="0">
                <a:latin typeface="Arial MT"/>
                <a:cs typeface="Arial MT"/>
              </a:rPr>
              <a:t> </a:t>
            </a:r>
            <a:r>
              <a:rPr sz="2400" spc="-114" dirty="0">
                <a:latin typeface="Arial MT"/>
                <a:cs typeface="Arial MT"/>
              </a:rPr>
              <a:t>conformed</a:t>
            </a:r>
            <a:endParaRPr sz="24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550"/>
              </a:spcBef>
              <a:buSzPct val="125000"/>
              <a:buFont typeface="Microsoft Sans Serif"/>
              <a:buChar char="•"/>
              <a:tabLst>
                <a:tab pos="241300" algn="l"/>
              </a:tabLst>
            </a:pPr>
            <a:r>
              <a:rPr sz="2400" spc="-245" dirty="0">
                <a:latin typeface="Arial MT"/>
                <a:cs typeface="Arial MT"/>
              </a:rPr>
              <a:t>Sound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125" dirty="0">
                <a:latin typeface="Arial MT"/>
                <a:cs typeface="Arial MT"/>
              </a:rPr>
              <a:t>only</a:t>
            </a:r>
            <a:r>
              <a:rPr sz="2400" spc="-125" dirty="0">
                <a:latin typeface="Microsoft Sans Serif"/>
                <a:cs typeface="Microsoft Sans Serif"/>
              </a:rPr>
              <a:t>→</a:t>
            </a:r>
            <a:r>
              <a:rPr sz="2400" spc="-125" dirty="0">
                <a:latin typeface="Arial MT"/>
                <a:cs typeface="Arial MT"/>
              </a:rPr>
              <a:t>possible</a:t>
            </a:r>
            <a:r>
              <a:rPr sz="2400" spc="-10" dirty="0">
                <a:latin typeface="Arial MT"/>
                <a:cs typeface="Arial MT"/>
              </a:rPr>
              <a:t> treat</a:t>
            </a:r>
            <a:endParaRPr sz="2400">
              <a:latin typeface="Arial MT"/>
              <a:cs typeface="Arial MT"/>
            </a:endParaRPr>
          </a:p>
          <a:p>
            <a:pPr marL="241935" indent="-229235">
              <a:lnSpc>
                <a:spcPct val="100000"/>
              </a:lnSpc>
              <a:spcBef>
                <a:spcPts val="1630"/>
              </a:spcBef>
              <a:buSzPct val="125000"/>
              <a:buFont typeface="Microsoft Sans Serif"/>
              <a:buChar char="•"/>
              <a:tabLst>
                <a:tab pos="241935" algn="l"/>
              </a:tabLst>
            </a:pPr>
            <a:r>
              <a:rPr sz="2400" spc="-120" dirty="0">
                <a:latin typeface="Arial MT"/>
                <a:cs typeface="Arial MT"/>
              </a:rPr>
              <a:t>NoRF+bird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65" dirty="0">
                <a:latin typeface="Arial MT"/>
                <a:cs typeface="Arial MT"/>
              </a:rPr>
              <a:t>sound</a:t>
            </a:r>
            <a:r>
              <a:rPr sz="2400" spc="-165" dirty="0">
                <a:latin typeface="Microsoft Sans Serif"/>
                <a:cs typeface="Microsoft Sans Serif"/>
              </a:rPr>
              <a:t>→</a:t>
            </a:r>
            <a:r>
              <a:rPr sz="2400" spc="-165" dirty="0">
                <a:latin typeface="Arial MT"/>
                <a:cs typeface="Arial MT"/>
              </a:rPr>
              <a:t>Safe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zone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96150" y="1733550"/>
            <a:ext cx="4667250" cy="37528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30" dirty="0"/>
              <a:t>DECISION</a:t>
            </a:r>
            <a:r>
              <a:rPr spc="-15" dirty="0"/>
              <a:t> </a:t>
            </a:r>
            <a:r>
              <a:rPr spc="-385" dirty="0"/>
              <a:t>LOGIC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60"/>
              </a:spcBef>
              <a:buSzPct val="125000"/>
              <a:buFont typeface="Microsoft Sans Serif"/>
              <a:buChar char="•"/>
              <a:tabLst>
                <a:tab pos="241300" algn="l"/>
              </a:tabLst>
            </a:pPr>
            <a:r>
              <a:rPr spc="-180" dirty="0"/>
              <a:t>Step1:Check</a:t>
            </a:r>
            <a:r>
              <a:rPr spc="10" dirty="0"/>
              <a:t> </a:t>
            </a:r>
            <a:r>
              <a:rPr spc="-140" dirty="0"/>
              <a:t>ground</a:t>
            </a:r>
            <a:r>
              <a:rPr spc="-40" dirty="0"/>
              <a:t> </a:t>
            </a:r>
            <a:r>
              <a:rPr spc="-65" dirty="0"/>
              <a:t>vibration</a:t>
            </a:r>
            <a:r>
              <a:rPr spc="10" dirty="0"/>
              <a:t> </a:t>
            </a:r>
            <a:r>
              <a:rPr spc="-60" dirty="0"/>
              <a:t>sensor</a:t>
            </a:r>
          </a:p>
          <a:p>
            <a:pPr marL="241300" indent="-228600">
              <a:lnSpc>
                <a:spcPct val="100000"/>
              </a:lnSpc>
              <a:spcBef>
                <a:spcPts val="1555"/>
              </a:spcBef>
              <a:buSzPct val="125000"/>
              <a:buFont typeface="Microsoft Sans Serif"/>
              <a:buChar char="•"/>
              <a:tabLst>
                <a:tab pos="241300" algn="l"/>
              </a:tabLst>
            </a:pPr>
            <a:r>
              <a:rPr spc="-180" dirty="0"/>
              <a:t>Step2:Check</a:t>
            </a:r>
            <a:r>
              <a:rPr spc="50" dirty="0"/>
              <a:t> </a:t>
            </a:r>
            <a:r>
              <a:rPr spc="-190" dirty="0"/>
              <a:t>acoustic</a:t>
            </a:r>
            <a:r>
              <a:rPr spc="105" dirty="0"/>
              <a:t> </a:t>
            </a:r>
            <a:r>
              <a:rPr spc="-65" dirty="0"/>
              <a:t>sensor</a:t>
            </a:r>
          </a:p>
          <a:p>
            <a:pPr marL="241300" indent="-228600">
              <a:lnSpc>
                <a:spcPct val="100000"/>
              </a:lnSpc>
              <a:spcBef>
                <a:spcPts val="1550"/>
              </a:spcBef>
              <a:buSzPct val="125000"/>
              <a:buFont typeface="Microsoft Sans Serif"/>
              <a:buChar char="•"/>
              <a:tabLst>
                <a:tab pos="241300" algn="l"/>
              </a:tabLst>
            </a:pPr>
            <a:r>
              <a:rPr spc="-175" dirty="0"/>
              <a:t>Step3:Check</a:t>
            </a:r>
            <a:r>
              <a:rPr spc="10" dirty="0"/>
              <a:t> </a:t>
            </a:r>
            <a:r>
              <a:rPr spc="-185" dirty="0"/>
              <a:t>Rf</a:t>
            </a:r>
            <a:r>
              <a:rPr spc="55" dirty="0"/>
              <a:t> </a:t>
            </a:r>
            <a:r>
              <a:rPr spc="-10" dirty="0"/>
              <a:t>activity</a:t>
            </a:r>
          </a:p>
          <a:p>
            <a:pPr marL="241300" indent="-228600">
              <a:lnSpc>
                <a:spcPct val="100000"/>
              </a:lnSpc>
              <a:spcBef>
                <a:spcPts val="1625"/>
              </a:spcBef>
              <a:buSzPct val="125000"/>
              <a:buFont typeface="Microsoft Sans Serif"/>
              <a:buChar char="•"/>
              <a:tabLst>
                <a:tab pos="241300" algn="l"/>
              </a:tabLst>
            </a:pPr>
            <a:r>
              <a:rPr spc="-80" dirty="0"/>
              <a:t>Step4:Apply</a:t>
            </a:r>
            <a:r>
              <a:rPr spc="5" dirty="0"/>
              <a:t> </a:t>
            </a:r>
            <a:r>
              <a:rPr spc="-140" dirty="0"/>
              <a:t>classification</a:t>
            </a:r>
            <a:r>
              <a:rPr spc="10" dirty="0"/>
              <a:t> </a:t>
            </a:r>
            <a:r>
              <a:rPr spc="-10" dirty="0"/>
              <a:t>rules</a:t>
            </a:r>
          </a:p>
          <a:p>
            <a:pPr marL="241300" indent="-228600">
              <a:lnSpc>
                <a:spcPct val="100000"/>
              </a:lnSpc>
              <a:spcBef>
                <a:spcPts val="1550"/>
              </a:spcBef>
              <a:buSzPct val="125000"/>
              <a:buFont typeface="Microsoft Sans Serif"/>
              <a:buChar char="•"/>
              <a:tabLst>
                <a:tab pos="241300" algn="l"/>
              </a:tabLst>
            </a:pPr>
            <a:r>
              <a:rPr spc="-120" dirty="0"/>
              <a:t>Step5:Display</a:t>
            </a:r>
            <a:r>
              <a:rPr spc="-50" dirty="0"/>
              <a:t> </a:t>
            </a:r>
            <a:r>
              <a:rPr spc="-55" dirty="0"/>
              <a:t>threatty</a:t>
            </a:r>
            <a:r>
              <a:rPr spc="-75" dirty="0"/>
              <a:t> </a:t>
            </a:r>
            <a:r>
              <a:rPr spc="-60" dirty="0"/>
              <a:t>peandalert</a:t>
            </a:r>
            <a:r>
              <a:rPr spc="-75" dirty="0"/>
              <a:t> </a:t>
            </a:r>
            <a:r>
              <a:rPr spc="-10" dirty="0"/>
              <a:t>level</a:t>
            </a:r>
          </a:p>
          <a:p>
            <a:pPr marL="241300" marR="5080" indent="-229235">
              <a:lnSpc>
                <a:spcPct val="119900"/>
              </a:lnSpc>
              <a:spcBef>
                <a:spcPts val="1055"/>
              </a:spcBef>
              <a:buSzPct val="125000"/>
              <a:buFont typeface="Microsoft Sans Serif"/>
              <a:buChar char="•"/>
              <a:tabLst>
                <a:tab pos="241300" algn="l"/>
              </a:tabLst>
            </a:pPr>
            <a:r>
              <a:rPr spc="-285" dirty="0"/>
              <a:t>This</a:t>
            </a:r>
            <a:r>
              <a:rPr spc="20" dirty="0"/>
              <a:t> </a:t>
            </a:r>
            <a:r>
              <a:rPr spc="-95" dirty="0"/>
              <a:t>rule-</a:t>
            </a:r>
            <a:r>
              <a:rPr spc="-105" dirty="0"/>
              <a:t>based</a:t>
            </a:r>
            <a:r>
              <a:rPr spc="30" dirty="0"/>
              <a:t> </a:t>
            </a:r>
            <a:r>
              <a:rPr spc="-95" dirty="0"/>
              <a:t>logic</a:t>
            </a:r>
            <a:r>
              <a:rPr spc="-10" dirty="0"/>
              <a:t> </a:t>
            </a:r>
            <a:r>
              <a:rPr spc="-195" dirty="0"/>
              <a:t>simulates</a:t>
            </a:r>
            <a:r>
              <a:rPr dirty="0"/>
              <a:t> </a:t>
            </a:r>
            <a:r>
              <a:rPr spc="-125" dirty="0"/>
              <a:t>defence</a:t>
            </a:r>
            <a:r>
              <a:rPr spc="-20" dirty="0"/>
              <a:t> </a:t>
            </a:r>
            <a:r>
              <a:rPr spc="-135" dirty="0"/>
              <a:t>decision </a:t>
            </a:r>
            <a:r>
              <a:rPr spc="-114" dirty="0"/>
              <a:t>systems.l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91400" y="1123950"/>
            <a:ext cx="4657725" cy="46005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0" dirty="0"/>
              <a:t>THREAD</a:t>
            </a:r>
            <a:r>
              <a:rPr spc="-55" dirty="0"/>
              <a:t> </a:t>
            </a:r>
            <a:r>
              <a:rPr spc="-580" dirty="0"/>
              <a:t>LEVEL</a:t>
            </a:r>
            <a:r>
              <a:rPr spc="-55" dirty="0"/>
              <a:t> </a:t>
            </a:r>
            <a:r>
              <a:rPr spc="-380" dirty="0"/>
              <a:t>CLASSIFICATION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105" y="2214978"/>
            <a:ext cx="2796540" cy="3454151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535"/>
              </a:spcBef>
              <a:buSzPct val="122500"/>
              <a:buFont typeface="Microsoft Sans Serif"/>
              <a:buChar char="•"/>
              <a:tabLst>
                <a:tab pos="240665" algn="l"/>
              </a:tabLst>
            </a:pPr>
            <a:r>
              <a:rPr sz="2000" b="1" u="heavy" spc="-195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Arial"/>
                <a:cs typeface="Arial"/>
              </a:rPr>
              <a:t>Low</a:t>
            </a:r>
            <a:r>
              <a:rPr sz="2000" b="1" u="heavy" spc="-40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Arial"/>
                <a:cs typeface="Arial"/>
              </a:rPr>
              <a:t> </a:t>
            </a:r>
            <a:r>
              <a:rPr sz="2000" b="1" u="heavy" spc="-70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Arial"/>
                <a:cs typeface="Arial"/>
              </a:rPr>
              <a:t>Threat(Green):</a:t>
            </a:r>
            <a:endParaRPr sz="2000" dirty="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980"/>
              </a:spcBef>
              <a:buSzPct val="122500"/>
              <a:buFont typeface="Microsoft Sans Serif"/>
              <a:buChar char="•"/>
              <a:tabLst>
                <a:tab pos="240665" algn="l"/>
              </a:tabLst>
            </a:pPr>
            <a:r>
              <a:rPr sz="2000" spc="-95" dirty="0">
                <a:latin typeface="Arial MT"/>
                <a:cs typeface="Arial MT"/>
              </a:rPr>
              <a:t>Bird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noise</a:t>
            </a:r>
            <a:endParaRPr sz="2000" dirty="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055"/>
              </a:spcBef>
              <a:buSzPct val="122500"/>
              <a:buFont typeface="Microsoft Sans Serif"/>
              <a:buChar char="•"/>
              <a:tabLst>
                <a:tab pos="240665" algn="l"/>
              </a:tabLst>
            </a:pPr>
            <a:r>
              <a:rPr sz="2000" spc="-50" dirty="0">
                <a:latin typeface="Arial MT"/>
                <a:cs typeface="Arial MT"/>
              </a:rPr>
              <a:t>No</a:t>
            </a:r>
            <a:r>
              <a:rPr lang="en-IN" sz="2000" spc="-50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RF</a:t>
            </a:r>
            <a:r>
              <a:rPr lang="en-IN" sz="2000" spc="-50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activity</a:t>
            </a:r>
            <a:endParaRPr sz="2000" dirty="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980"/>
              </a:spcBef>
              <a:buSzPct val="122500"/>
              <a:buFont typeface="Microsoft Sans Serif"/>
              <a:buChar char="•"/>
              <a:tabLst>
                <a:tab pos="240665" algn="l"/>
              </a:tabLst>
            </a:pPr>
            <a:r>
              <a:rPr lang="en-IN" sz="2000" spc="-130" dirty="0">
                <a:latin typeface="Arial MT"/>
                <a:cs typeface="Arial MT"/>
              </a:rPr>
              <a:t>Single</a:t>
            </a:r>
            <a:r>
              <a:rPr lang="en-IN" sz="2000" spc="30" dirty="0">
                <a:latin typeface="Arial MT"/>
                <a:cs typeface="Arial MT"/>
              </a:rPr>
              <a:t> </a:t>
            </a:r>
            <a:r>
              <a:rPr lang="en-IN" sz="2000" spc="-204" dirty="0">
                <a:latin typeface="Arial MT"/>
                <a:cs typeface="Arial MT"/>
              </a:rPr>
              <a:t>sensor</a:t>
            </a:r>
            <a:r>
              <a:rPr lang="en-IN" sz="2000" spc="-5" dirty="0">
                <a:latin typeface="Arial MT"/>
                <a:cs typeface="Arial MT"/>
              </a:rPr>
              <a:t> </a:t>
            </a:r>
            <a:r>
              <a:rPr lang="en-IN" sz="2000" spc="-10" dirty="0">
                <a:latin typeface="Arial MT"/>
                <a:cs typeface="Arial MT"/>
              </a:rPr>
              <a:t>trigger</a:t>
            </a:r>
            <a:endParaRPr lang="en-IN" sz="2000" dirty="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980"/>
              </a:spcBef>
              <a:buSzPct val="122500"/>
              <a:buFont typeface="Microsoft Sans Serif"/>
              <a:buChar char="•"/>
              <a:tabLst>
                <a:tab pos="240665" algn="l"/>
              </a:tabLst>
            </a:pPr>
            <a:r>
              <a:rPr sz="2000" b="1" u="heavy" spc="-14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Arial"/>
                <a:cs typeface="Arial"/>
              </a:rPr>
              <a:t>Medium</a:t>
            </a:r>
            <a:r>
              <a:rPr sz="2000" b="1" spc="2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000" b="1" u="heavy" spc="-114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Arial"/>
                <a:cs typeface="Arial"/>
              </a:rPr>
              <a:t>Threat(Yellow):</a:t>
            </a:r>
            <a:endParaRPr sz="2000" dirty="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1050"/>
              </a:spcBef>
              <a:buSzPct val="122500"/>
              <a:buFont typeface="Microsoft Sans Serif"/>
              <a:buChar char="•"/>
              <a:tabLst>
                <a:tab pos="240665" algn="l"/>
              </a:tabLst>
            </a:pPr>
            <a:r>
              <a:rPr sz="2000" b="1" u="heavy" spc="-1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High</a:t>
            </a:r>
            <a:r>
              <a:rPr sz="20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heavy" spc="-7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Threat(Red):</a:t>
            </a:r>
            <a:endParaRPr sz="2000" dirty="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980"/>
              </a:spcBef>
              <a:buSzPct val="122500"/>
              <a:buFont typeface="Microsoft Sans Serif"/>
              <a:buChar char="•"/>
              <a:tabLst>
                <a:tab pos="240665" algn="l"/>
              </a:tabLst>
            </a:pPr>
            <a:r>
              <a:rPr sz="2000" spc="-114" dirty="0">
                <a:latin typeface="Arial MT"/>
                <a:cs typeface="Arial MT"/>
              </a:rPr>
              <a:t>Confirmed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drone</a:t>
            </a:r>
            <a:endParaRPr sz="2000" dirty="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980"/>
              </a:spcBef>
              <a:buSzPct val="122500"/>
              <a:buFont typeface="Microsoft Sans Serif"/>
              <a:buChar char="•"/>
              <a:tabLst>
                <a:tab pos="240665" algn="l"/>
              </a:tabLst>
            </a:pPr>
            <a:r>
              <a:rPr sz="2000" spc="-145" dirty="0">
                <a:latin typeface="Arial MT"/>
                <a:cs typeface="Arial MT"/>
              </a:rPr>
              <a:t>Vehicle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55" dirty="0">
                <a:latin typeface="Arial MT"/>
                <a:cs typeface="Arial MT"/>
              </a:rPr>
              <a:t>movement</a:t>
            </a:r>
            <a:endParaRPr sz="20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38700" y="2209799"/>
            <a:ext cx="4524375" cy="464819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75" dirty="0"/>
              <a:t>OUTPUT</a:t>
            </a:r>
            <a:r>
              <a:rPr spc="-15" dirty="0"/>
              <a:t> </a:t>
            </a:r>
            <a:r>
              <a:rPr spc="-200" dirty="0"/>
              <a:t>AND</a:t>
            </a:r>
            <a:r>
              <a:rPr spc="-55" dirty="0"/>
              <a:t> </a:t>
            </a:r>
            <a:r>
              <a:rPr spc="-509" dirty="0"/>
              <a:t>ALERT</a:t>
            </a:r>
            <a:r>
              <a:rPr spc="-15" dirty="0"/>
              <a:t> </a:t>
            </a:r>
            <a:r>
              <a:rPr spc="-509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72819" y="1688789"/>
            <a:ext cx="2752725" cy="4888865"/>
          </a:xfrm>
          <a:prstGeom prst="rect">
            <a:avLst/>
          </a:prstGeom>
        </p:spPr>
        <p:txBody>
          <a:bodyPr vert="horz" wrap="square" lIns="0" tIns="12319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70"/>
              </a:spcBef>
              <a:buSzPct val="122500"/>
              <a:buFont typeface="Microsoft Sans Serif"/>
              <a:buChar char="•"/>
              <a:tabLst>
                <a:tab pos="240665" algn="l"/>
              </a:tabLst>
            </a:pPr>
            <a:r>
              <a:rPr sz="2000" spc="-290" dirty="0">
                <a:latin typeface="Arial MT"/>
                <a:cs typeface="Arial MT"/>
              </a:rPr>
              <a:t>LCD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Display: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505"/>
              </a:spcBef>
              <a:buSzPct val="122500"/>
              <a:buFont typeface="Microsoft Sans Serif"/>
              <a:buChar char="•"/>
              <a:tabLst>
                <a:tab pos="240665" algn="l"/>
              </a:tabLst>
            </a:pPr>
            <a:r>
              <a:rPr sz="2000" spc="-275" dirty="0">
                <a:latin typeface="Arial MT"/>
                <a:cs typeface="Arial MT"/>
              </a:rPr>
              <a:t>SAFEZONE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430"/>
              </a:spcBef>
              <a:buSzPct val="122500"/>
              <a:buFont typeface="Microsoft Sans Serif"/>
              <a:buChar char="•"/>
              <a:tabLst>
                <a:tab pos="240665" algn="l"/>
              </a:tabLst>
            </a:pPr>
            <a:r>
              <a:rPr sz="2000" spc="-90" dirty="0">
                <a:latin typeface="Arial MT"/>
                <a:cs typeface="Arial MT"/>
              </a:rPr>
              <a:t>LAND:HUMAN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505"/>
              </a:spcBef>
              <a:buSzPct val="122500"/>
              <a:buFont typeface="Microsoft Sans Serif"/>
              <a:buChar char="•"/>
              <a:tabLst>
                <a:tab pos="240665" algn="l"/>
              </a:tabLst>
            </a:pPr>
            <a:r>
              <a:rPr sz="2000" spc="-170" dirty="0">
                <a:latin typeface="Arial MT"/>
                <a:cs typeface="Arial MT"/>
              </a:rPr>
              <a:t>LAND:VEHICLE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505"/>
              </a:spcBef>
              <a:buSzPct val="122500"/>
              <a:buFont typeface="Microsoft Sans Serif"/>
              <a:buChar char="•"/>
              <a:tabLst>
                <a:tab pos="240665" algn="l"/>
              </a:tabLst>
            </a:pPr>
            <a:r>
              <a:rPr sz="2000" spc="-245" dirty="0">
                <a:latin typeface="Arial MT"/>
                <a:cs typeface="Arial MT"/>
              </a:rPr>
              <a:t>AIR:DRONE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spc="-220" dirty="0">
                <a:latin typeface="Arial MT"/>
                <a:cs typeface="Arial MT"/>
              </a:rPr>
              <a:t>CONFIRMED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430"/>
              </a:spcBef>
              <a:buSzPct val="122500"/>
              <a:buFont typeface="Microsoft Sans Serif"/>
              <a:buChar char="•"/>
              <a:tabLst>
                <a:tab pos="240665" algn="l"/>
              </a:tabLst>
            </a:pPr>
            <a:r>
              <a:rPr sz="2000" spc="-350" dirty="0">
                <a:latin typeface="Arial MT"/>
                <a:cs typeface="Arial MT"/>
              </a:rPr>
              <a:t>LED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spc="-30" dirty="0">
                <a:latin typeface="Arial MT"/>
                <a:cs typeface="Arial MT"/>
              </a:rPr>
              <a:t>Indicators: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505"/>
              </a:spcBef>
              <a:buSzPct val="122500"/>
              <a:buFont typeface="Microsoft Sans Serif"/>
              <a:buChar char="•"/>
              <a:tabLst>
                <a:tab pos="240665" algn="l"/>
              </a:tabLst>
            </a:pPr>
            <a:r>
              <a:rPr sz="2000" spc="-10" dirty="0">
                <a:latin typeface="Arial MT"/>
                <a:cs typeface="Arial MT"/>
              </a:rPr>
              <a:t>Green</a:t>
            </a:r>
            <a:r>
              <a:rPr sz="2000" spc="-10" dirty="0">
                <a:latin typeface="Microsoft Sans Serif"/>
                <a:cs typeface="Microsoft Sans Serif"/>
              </a:rPr>
              <a:t>→</a:t>
            </a:r>
            <a:r>
              <a:rPr sz="2000" spc="-10" dirty="0">
                <a:latin typeface="Arial MT"/>
                <a:cs typeface="Arial MT"/>
              </a:rPr>
              <a:t>Safe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505"/>
              </a:spcBef>
              <a:buSzPct val="122500"/>
              <a:buFont typeface="Microsoft Sans Serif"/>
              <a:buChar char="•"/>
              <a:tabLst>
                <a:tab pos="240665" algn="l"/>
              </a:tabLst>
            </a:pPr>
            <a:r>
              <a:rPr sz="2000" spc="-35" dirty="0">
                <a:latin typeface="Arial MT"/>
                <a:cs typeface="Arial MT"/>
              </a:rPr>
              <a:t>Yellow</a:t>
            </a:r>
            <a:r>
              <a:rPr sz="2000" spc="-35" dirty="0">
                <a:latin typeface="Microsoft Sans Serif"/>
                <a:cs typeface="Microsoft Sans Serif"/>
              </a:rPr>
              <a:t>→</a:t>
            </a:r>
            <a:r>
              <a:rPr sz="2000" spc="-35" dirty="0">
                <a:latin typeface="Arial MT"/>
                <a:cs typeface="Arial MT"/>
              </a:rPr>
              <a:t>Warning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510"/>
              </a:spcBef>
              <a:buSzPct val="122500"/>
              <a:buFont typeface="Microsoft Sans Serif"/>
              <a:buChar char="•"/>
              <a:tabLst>
                <a:tab pos="240665" algn="l"/>
              </a:tabLst>
            </a:pPr>
            <a:r>
              <a:rPr sz="2000" spc="-40" dirty="0">
                <a:latin typeface="Arial MT"/>
                <a:cs typeface="Arial MT"/>
              </a:rPr>
              <a:t>Red</a:t>
            </a:r>
            <a:r>
              <a:rPr sz="2000" spc="-40" dirty="0">
                <a:latin typeface="Microsoft Sans Serif"/>
                <a:cs typeface="Microsoft Sans Serif"/>
              </a:rPr>
              <a:t>→</a:t>
            </a:r>
            <a:r>
              <a:rPr sz="2000" spc="-40" dirty="0">
                <a:latin typeface="Arial MT"/>
                <a:cs typeface="Arial MT"/>
              </a:rPr>
              <a:t>Danger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430"/>
              </a:spcBef>
              <a:buSzPct val="122500"/>
              <a:buFont typeface="Microsoft Sans Serif"/>
              <a:buChar char="•"/>
              <a:tabLst>
                <a:tab pos="240665" algn="l"/>
              </a:tabLst>
            </a:pPr>
            <a:r>
              <a:rPr sz="2000" spc="-165" dirty="0">
                <a:latin typeface="Arial MT"/>
                <a:cs typeface="Arial MT"/>
              </a:rPr>
              <a:t>Buzzer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55" dirty="0">
                <a:latin typeface="Arial MT"/>
                <a:cs typeface="Arial MT"/>
              </a:rPr>
              <a:t>audible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alert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7400" y="2095500"/>
            <a:ext cx="5429250" cy="29337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309880"/>
            <a:ext cx="547878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none" spc="-445" dirty="0"/>
              <a:t>PROTOTYPE</a:t>
            </a:r>
            <a:r>
              <a:rPr u="none" spc="-25" dirty="0"/>
              <a:t> </a:t>
            </a:r>
            <a:r>
              <a:rPr u="none" spc="-400" dirty="0"/>
              <a:t>MODEL</a:t>
            </a:r>
            <a:r>
              <a:rPr u="none" spc="-60" dirty="0"/>
              <a:t> </a:t>
            </a:r>
            <a:r>
              <a:rPr u="none" spc="-390" dirty="0"/>
              <a:t>DESIGN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1439" y="0"/>
            <a:ext cx="12100560" cy="6858000"/>
            <a:chOff x="91439" y="0"/>
            <a:chExt cx="12100560" cy="6858000"/>
          </a:xfrm>
        </p:grpSpPr>
        <p:sp>
          <p:nvSpPr>
            <p:cNvPr id="4" name="object 4"/>
            <p:cNvSpPr/>
            <p:nvPr/>
          </p:nvSpPr>
          <p:spPr>
            <a:xfrm>
              <a:off x="91439" y="817499"/>
              <a:ext cx="5448300" cy="28575"/>
            </a:xfrm>
            <a:custGeom>
              <a:avLst/>
              <a:gdLst/>
              <a:ahLst/>
              <a:cxnLst/>
              <a:rect l="l" t="t" r="r" b="b"/>
              <a:pathLst>
                <a:path w="5448300" h="28575">
                  <a:moveTo>
                    <a:pt x="5448300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5448300" y="28575"/>
                  </a:lnTo>
                  <a:lnTo>
                    <a:pt x="5448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24524" y="0"/>
              <a:ext cx="6467475" cy="685799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81684" y="1653222"/>
            <a:ext cx="3933190" cy="33642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0029" marR="5080" indent="-227329">
              <a:lnSpc>
                <a:spcPct val="113599"/>
              </a:lnSpc>
              <a:spcBef>
                <a:spcPts val="90"/>
              </a:spcBef>
              <a:buSzPct val="127906"/>
              <a:buFont typeface="Microsoft Sans Serif"/>
              <a:buChar char="•"/>
              <a:tabLst>
                <a:tab pos="241300" algn="l"/>
              </a:tabLst>
            </a:pPr>
            <a:r>
              <a:rPr sz="2150" spc="-85" dirty="0">
                <a:latin typeface="Arial MT"/>
                <a:cs typeface="Arial MT"/>
              </a:rPr>
              <a:t>Ground</a:t>
            </a:r>
            <a:r>
              <a:rPr sz="2150" spc="10" dirty="0">
                <a:latin typeface="Arial MT"/>
                <a:cs typeface="Arial MT"/>
              </a:rPr>
              <a:t> </a:t>
            </a:r>
            <a:r>
              <a:rPr sz="2150" spc="-150" dirty="0">
                <a:latin typeface="Arial MT"/>
                <a:cs typeface="Arial MT"/>
              </a:rPr>
              <a:t>section</a:t>
            </a:r>
            <a:r>
              <a:rPr sz="2150" dirty="0">
                <a:latin typeface="Arial MT"/>
                <a:cs typeface="Arial MT"/>
              </a:rPr>
              <a:t> </a:t>
            </a:r>
            <a:r>
              <a:rPr sz="2150" spc="-150" dirty="0">
                <a:latin typeface="Arial MT"/>
                <a:cs typeface="Arial MT"/>
              </a:rPr>
              <a:t>contains</a:t>
            </a:r>
            <a:r>
              <a:rPr sz="2150" dirty="0">
                <a:latin typeface="Arial MT"/>
                <a:cs typeface="Arial MT"/>
              </a:rPr>
              <a:t> </a:t>
            </a:r>
            <a:r>
              <a:rPr sz="2150" spc="-40" dirty="0">
                <a:latin typeface="Arial MT"/>
                <a:cs typeface="Arial MT"/>
              </a:rPr>
              <a:t>vibration 	</a:t>
            </a:r>
            <a:r>
              <a:rPr sz="2150" spc="-30" dirty="0">
                <a:latin typeface="Arial MT"/>
                <a:cs typeface="Arial MT"/>
              </a:rPr>
              <a:t>sensor</a:t>
            </a:r>
            <a:endParaRPr sz="2150">
              <a:latin typeface="Arial MT"/>
              <a:cs typeface="Arial MT"/>
            </a:endParaRPr>
          </a:p>
          <a:p>
            <a:pPr marL="240029" marR="123189" indent="-227329">
              <a:lnSpc>
                <a:spcPct val="113500"/>
              </a:lnSpc>
              <a:spcBef>
                <a:spcPts val="980"/>
              </a:spcBef>
              <a:buSzPct val="127906"/>
              <a:buFont typeface="Microsoft Sans Serif"/>
              <a:buChar char="•"/>
              <a:tabLst>
                <a:tab pos="241300" algn="l"/>
              </a:tabLst>
            </a:pPr>
            <a:r>
              <a:rPr sz="2150" spc="-105" dirty="0">
                <a:latin typeface="Arial MT"/>
                <a:cs typeface="Arial MT"/>
              </a:rPr>
              <a:t>Elevated</a:t>
            </a:r>
            <a:r>
              <a:rPr sz="2150" spc="-55" dirty="0">
                <a:latin typeface="Arial MT"/>
                <a:cs typeface="Arial MT"/>
              </a:rPr>
              <a:t> tower</a:t>
            </a:r>
            <a:r>
              <a:rPr sz="2150" spc="-10" dirty="0">
                <a:latin typeface="Arial MT"/>
                <a:cs typeface="Arial MT"/>
              </a:rPr>
              <a:t> </a:t>
            </a:r>
            <a:r>
              <a:rPr sz="2150" spc="-150" dirty="0">
                <a:latin typeface="Arial MT"/>
                <a:cs typeface="Arial MT"/>
              </a:rPr>
              <a:t>contains</a:t>
            </a:r>
            <a:r>
              <a:rPr sz="2150" dirty="0">
                <a:latin typeface="Arial MT"/>
                <a:cs typeface="Arial MT"/>
              </a:rPr>
              <a:t> </a:t>
            </a:r>
            <a:r>
              <a:rPr sz="2150" spc="-130" dirty="0">
                <a:latin typeface="Arial MT"/>
                <a:cs typeface="Arial MT"/>
              </a:rPr>
              <a:t>acoustic 	</a:t>
            </a:r>
            <a:r>
              <a:rPr sz="2150" spc="-40" dirty="0">
                <a:latin typeface="Arial MT"/>
                <a:cs typeface="Arial MT"/>
              </a:rPr>
              <a:t>and</a:t>
            </a:r>
            <a:r>
              <a:rPr sz="2150" spc="-100" dirty="0">
                <a:latin typeface="Arial MT"/>
                <a:cs typeface="Arial MT"/>
              </a:rPr>
              <a:t> </a:t>
            </a:r>
            <a:r>
              <a:rPr sz="2150" spc="-275" dirty="0">
                <a:latin typeface="Arial MT"/>
                <a:cs typeface="Arial MT"/>
              </a:rPr>
              <a:t>RFsensors</a:t>
            </a:r>
            <a:endParaRPr sz="2150">
              <a:latin typeface="Arial MT"/>
              <a:cs typeface="Arial MT"/>
            </a:endParaRPr>
          </a:p>
          <a:p>
            <a:pPr marL="240029" marR="989330" indent="-227329">
              <a:lnSpc>
                <a:spcPct val="110600"/>
              </a:lnSpc>
              <a:spcBef>
                <a:spcPts val="1050"/>
              </a:spcBef>
              <a:buSzPct val="127906"/>
              <a:buFont typeface="Microsoft Sans Serif"/>
              <a:buChar char="•"/>
              <a:tabLst>
                <a:tab pos="241300" algn="l"/>
              </a:tabLst>
            </a:pPr>
            <a:r>
              <a:rPr sz="2150" spc="-95" dirty="0">
                <a:latin typeface="Arial MT"/>
                <a:cs typeface="Arial MT"/>
              </a:rPr>
              <a:t>Control</a:t>
            </a:r>
            <a:r>
              <a:rPr sz="2150" spc="5" dirty="0">
                <a:latin typeface="Arial MT"/>
                <a:cs typeface="Arial MT"/>
              </a:rPr>
              <a:t> </a:t>
            </a:r>
            <a:r>
              <a:rPr sz="2150" spc="-125" dirty="0">
                <a:latin typeface="Arial MT"/>
                <a:cs typeface="Arial MT"/>
              </a:rPr>
              <a:t>unit</a:t>
            </a:r>
            <a:r>
              <a:rPr sz="2150" spc="-30" dirty="0">
                <a:latin typeface="Arial MT"/>
                <a:cs typeface="Arial MT"/>
              </a:rPr>
              <a:t> </a:t>
            </a:r>
            <a:r>
              <a:rPr sz="2150" spc="-25" dirty="0">
                <a:latin typeface="Arial MT"/>
                <a:cs typeface="Arial MT"/>
              </a:rPr>
              <a:t>contains 	</a:t>
            </a:r>
            <a:r>
              <a:rPr sz="2150" spc="-135" dirty="0">
                <a:latin typeface="Arial MT"/>
                <a:cs typeface="Arial MT"/>
              </a:rPr>
              <a:t>controller,LCD,and</a:t>
            </a:r>
            <a:r>
              <a:rPr sz="2150" spc="10" dirty="0">
                <a:latin typeface="Arial MT"/>
                <a:cs typeface="Arial MT"/>
              </a:rPr>
              <a:t> </a:t>
            </a:r>
            <a:r>
              <a:rPr sz="2150" spc="-45" dirty="0">
                <a:latin typeface="Arial MT"/>
                <a:cs typeface="Arial MT"/>
              </a:rPr>
              <a:t>alerts</a:t>
            </a:r>
            <a:endParaRPr sz="215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1325"/>
              </a:spcBef>
              <a:buSzPct val="127906"/>
              <a:buFont typeface="Microsoft Sans Serif"/>
              <a:buChar char="•"/>
              <a:tabLst>
                <a:tab pos="240029" algn="l"/>
              </a:tabLst>
            </a:pPr>
            <a:r>
              <a:rPr sz="2150" spc="-125" dirty="0">
                <a:latin typeface="Arial MT"/>
                <a:cs typeface="Arial MT"/>
              </a:rPr>
              <a:t>Designed</a:t>
            </a:r>
            <a:r>
              <a:rPr sz="2150" spc="1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to</a:t>
            </a:r>
            <a:r>
              <a:rPr sz="2150" spc="-25" dirty="0">
                <a:latin typeface="Arial MT"/>
                <a:cs typeface="Arial MT"/>
              </a:rPr>
              <a:t> </a:t>
            </a:r>
            <a:r>
              <a:rPr sz="2150" spc="-120" dirty="0">
                <a:latin typeface="Arial MT"/>
                <a:cs typeface="Arial MT"/>
              </a:rPr>
              <a:t>resemble</a:t>
            </a:r>
            <a:r>
              <a:rPr sz="2150" spc="-2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a</a:t>
            </a:r>
            <a:r>
              <a:rPr sz="2150" spc="-6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border</a:t>
            </a:r>
            <a:endParaRPr sz="215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350"/>
              </a:spcBef>
            </a:pPr>
            <a:r>
              <a:rPr sz="2150" spc="-114" dirty="0">
                <a:latin typeface="Arial MT"/>
                <a:cs typeface="Arial MT"/>
              </a:rPr>
              <a:t>surveillance</a:t>
            </a:r>
            <a:r>
              <a:rPr sz="2150" spc="65" dirty="0">
                <a:latin typeface="Arial MT"/>
                <a:cs typeface="Arial MT"/>
              </a:rPr>
              <a:t> </a:t>
            </a:r>
            <a:r>
              <a:rPr sz="2150" spc="-20" dirty="0">
                <a:latin typeface="Arial MT"/>
                <a:cs typeface="Arial MT"/>
              </a:rPr>
              <a:t>post</a:t>
            </a:r>
            <a:endParaRPr sz="2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1105" y="2239358"/>
            <a:ext cx="7336790" cy="3585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30504">
              <a:lnSpc>
                <a:spcPts val="5820"/>
              </a:lnSpc>
              <a:buSzPct val="124050"/>
              <a:buFont typeface="Microsoft Sans Serif"/>
              <a:buChar char="•"/>
              <a:tabLst>
                <a:tab pos="241300" algn="l"/>
              </a:tabLst>
            </a:pPr>
            <a:r>
              <a:rPr sz="3950" spc="-300" dirty="0">
                <a:latin typeface="Arial MT"/>
                <a:cs typeface="Arial MT"/>
              </a:rPr>
              <a:t>Low-</a:t>
            </a:r>
            <a:r>
              <a:rPr sz="3950" spc="-265" dirty="0">
                <a:latin typeface="Arial MT"/>
                <a:cs typeface="Arial MT"/>
              </a:rPr>
              <a:t>costand</a:t>
            </a:r>
            <a:r>
              <a:rPr sz="3950" spc="75" dirty="0">
                <a:latin typeface="Arial MT"/>
                <a:cs typeface="Arial MT"/>
              </a:rPr>
              <a:t> </a:t>
            </a:r>
            <a:r>
              <a:rPr sz="3950" spc="-270" dirty="0">
                <a:latin typeface="Arial MT"/>
                <a:cs typeface="Arial MT"/>
              </a:rPr>
              <a:t>compact</a:t>
            </a:r>
            <a:endParaRPr sz="3950" dirty="0">
              <a:latin typeface="Arial MT"/>
              <a:cs typeface="Arial MT"/>
            </a:endParaRPr>
          </a:p>
          <a:p>
            <a:pPr marL="241300" indent="-230504">
              <a:lnSpc>
                <a:spcPct val="100000"/>
              </a:lnSpc>
              <a:spcBef>
                <a:spcPts val="760"/>
              </a:spcBef>
              <a:buSzPct val="124050"/>
              <a:buFont typeface="Microsoft Sans Serif"/>
              <a:buChar char="•"/>
              <a:tabLst>
                <a:tab pos="241300" algn="l"/>
              </a:tabLst>
            </a:pPr>
            <a:r>
              <a:rPr sz="3950" spc="-340" dirty="0">
                <a:latin typeface="Arial MT"/>
                <a:cs typeface="Arial MT"/>
              </a:rPr>
              <a:t>Reduced</a:t>
            </a:r>
            <a:r>
              <a:rPr sz="3950" dirty="0">
                <a:latin typeface="Arial MT"/>
                <a:cs typeface="Arial MT"/>
              </a:rPr>
              <a:t> </a:t>
            </a:r>
            <a:r>
              <a:rPr sz="3950" spc="-100" dirty="0">
                <a:latin typeface="Arial MT"/>
                <a:cs typeface="Arial MT"/>
              </a:rPr>
              <a:t>false</a:t>
            </a:r>
            <a:r>
              <a:rPr sz="3950" spc="-150" dirty="0">
                <a:latin typeface="Arial MT"/>
                <a:cs typeface="Arial MT"/>
              </a:rPr>
              <a:t> </a:t>
            </a:r>
            <a:r>
              <a:rPr sz="3950" spc="-20" dirty="0">
                <a:latin typeface="Arial MT"/>
                <a:cs typeface="Arial MT"/>
              </a:rPr>
              <a:t>alarms</a:t>
            </a:r>
            <a:endParaRPr sz="3950" dirty="0">
              <a:latin typeface="Arial MT"/>
              <a:cs typeface="Arial MT"/>
            </a:endParaRPr>
          </a:p>
          <a:p>
            <a:pPr marL="241300" indent="-230504">
              <a:lnSpc>
                <a:spcPct val="100000"/>
              </a:lnSpc>
              <a:spcBef>
                <a:spcPts val="760"/>
              </a:spcBef>
              <a:buSzPct val="124050"/>
              <a:buFont typeface="Microsoft Sans Serif"/>
              <a:buChar char="•"/>
              <a:tabLst>
                <a:tab pos="241300" algn="l"/>
              </a:tabLst>
            </a:pPr>
            <a:r>
              <a:rPr sz="3950" spc="-100" dirty="0">
                <a:latin typeface="Arial MT"/>
                <a:cs typeface="Arial MT"/>
              </a:rPr>
              <a:t>Modular</a:t>
            </a:r>
            <a:r>
              <a:rPr lang="en-IN" sz="3950" spc="-100" dirty="0">
                <a:latin typeface="Arial MT"/>
                <a:cs typeface="Arial MT"/>
              </a:rPr>
              <a:t> </a:t>
            </a:r>
            <a:r>
              <a:rPr sz="3950" spc="-100" dirty="0">
                <a:latin typeface="Arial MT"/>
                <a:cs typeface="Arial MT"/>
              </a:rPr>
              <a:t>and</a:t>
            </a:r>
            <a:r>
              <a:rPr lang="en-IN" sz="3950" spc="-100" dirty="0">
                <a:latin typeface="Arial MT"/>
                <a:cs typeface="Arial MT"/>
              </a:rPr>
              <a:t> </a:t>
            </a:r>
            <a:r>
              <a:rPr sz="3950" spc="-100" dirty="0">
                <a:latin typeface="Arial MT"/>
                <a:cs typeface="Arial MT"/>
              </a:rPr>
              <a:t>scalable</a:t>
            </a:r>
            <a:endParaRPr sz="3950" dirty="0">
              <a:latin typeface="Arial MT"/>
              <a:cs typeface="Arial MT"/>
            </a:endParaRPr>
          </a:p>
          <a:p>
            <a:pPr marL="241300" indent="-230504">
              <a:lnSpc>
                <a:spcPct val="100000"/>
              </a:lnSpc>
              <a:spcBef>
                <a:spcPts val="760"/>
              </a:spcBef>
              <a:buSzPct val="124050"/>
              <a:buFont typeface="Microsoft Sans Serif"/>
              <a:buChar char="•"/>
              <a:tabLst>
                <a:tab pos="241300" algn="l"/>
              </a:tabLst>
            </a:pPr>
            <a:r>
              <a:rPr sz="3950" spc="-130" dirty="0">
                <a:latin typeface="Arial MT"/>
                <a:cs typeface="Arial MT"/>
              </a:rPr>
              <a:t>Operates</a:t>
            </a:r>
            <a:r>
              <a:rPr sz="3950" spc="-114" dirty="0">
                <a:latin typeface="Arial MT"/>
                <a:cs typeface="Arial MT"/>
              </a:rPr>
              <a:t> </a:t>
            </a:r>
            <a:r>
              <a:rPr sz="3950" spc="-265" dirty="0">
                <a:latin typeface="Arial MT"/>
                <a:cs typeface="Arial MT"/>
              </a:rPr>
              <a:t>in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spc="-135" dirty="0">
                <a:latin typeface="Arial MT"/>
                <a:cs typeface="Arial MT"/>
              </a:rPr>
              <a:t>low</a:t>
            </a:r>
            <a:r>
              <a:rPr sz="3950" spc="-100" dirty="0">
                <a:latin typeface="Arial MT"/>
                <a:cs typeface="Arial MT"/>
              </a:rPr>
              <a:t> </a:t>
            </a:r>
            <a:r>
              <a:rPr sz="3950" spc="-85" dirty="0">
                <a:latin typeface="Arial MT"/>
                <a:cs typeface="Arial MT"/>
              </a:rPr>
              <a:t>visibility</a:t>
            </a:r>
            <a:r>
              <a:rPr sz="3950" spc="-95" dirty="0">
                <a:latin typeface="Arial MT"/>
                <a:cs typeface="Arial MT"/>
              </a:rPr>
              <a:t> </a:t>
            </a:r>
            <a:r>
              <a:rPr sz="3950" spc="-215" dirty="0">
                <a:latin typeface="Arial MT"/>
                <a:cs typeface="Arial MT"/>
              </a:rPr>
              <a:t>conditions</a:t>
            </a:r>
            <a:endParaRPr sz="3950" dirty="0">
              <a:latin typeface="Arial MT"/>
              <a:cs typeface="Arial MT"/>
            </a:endParaRPr>
          </a:p>
          <a:p>
            <a:pPr marL="241300" indent="-230504">
              <a:lnSpc>
                <a:spcPct val="100000"/>
              </a:lnSpc>
              <a:spcBef>
                <a:spcPts val="755"/>
              </a:spcBef>
              <a:buSzPct val="124050"/>
              <a:buFont typeface="Microsoft Sans Serif"/>
              <a:buChar char="•"/>
              <a:tabLst>
                <a:tab pos="241300" algn="l"/>
              </a:tabLst>
            </a:pPr>
            <a:r>
              <a:rPr sz="3950" spc="-215" dirty="0" err="1">
                <a:latin typeface="Arial MT"/>
                <a:cs typeface="Arial MT"/>
              </a:rPr>
              <a:t>Defence</a:t>
            </a:r>
            <a:r>
              <a:rPr lang="en-IN" sz="3950" spc="-215" dirty="0">
                <a:latin typeface="Arial MT"/>
                <a:cs typeface="Arial MT"/>
              </a:rPr>
              <a:t> </a:t>
            </a:r>
            <a:r>
              <a:rPr sz="3950" spc="-215" dirty="0">
                <a:latin typeface="Arial MT"/>
                <a:cs typeface="Arial MT"/>
              </a:rPr>
              <a:t>-</a:t>
            </a:r>
            <a:r>
              <a:rPr lang="en-IN" sz="3950" spc="-215" dirty="0">
                <a:latin typeface="Arial MT"/>
                <a:cs typeface="Arial MT"/>
              </a:rPr>
              <a:t> </a:t>
            </a:r>
            <a:r>
              <a:rPr sz="3950" spc="-125" dirty="0">
                <a:latin typeface="Arial MT"/>
                <a:cs typeface="Arial MT"/>
              </a:rPr>
              <a:t>oriented</a:t>
            </a:r>
            <a:r>
              <a:rPr sz="3950" spc="-100" dirty="0">
                <a:latin typeface="Arial MT"/>
                <a:cs typeface="Arial MT"/>
              </a:rPr>
              <a:t> </a:t>
            </a:r>
            <a:r>
              <a:rPr sz="3950" spc="-45" dirty="0">
                <a:latin typeface="Arial MT"/>
                <a:cs typeface="Arial MT"/>
              </a:rPr>
              <a:t>architec</a:t>
            </a:r>
            <a:endParaRPr sz="395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4425" y="657225"/>
            <a:ext cx="6581775" cy="9429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1105" y="2239358"/>
            <a:ext cx="8439150" cy="3328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30504">
              <a:lnSpc>
                <a:spcPts val="5820"/>
              </a:lnSpc>
              <a:buSzPct val="124050"/>
              <a:buFont typeface="Microsoft Sans Serif"/>
              <a:buChar char="•"/>
              <a:tabLst>
                <a:tab pos="241300" algn="l"/>
              </a:tabLst>
            </a:pPr>
            <a:r>
              <a:rPr sz="3950" spc="-225" dirty="0">
                <a:latin typeface="Arial MT"/>
                <a:cs typeface="Arial MT"/>
              </a:rPr>
              <a:t>Limited</a:t>
            </a:r>
            <a:r>
              <a:rPr sz="3950" spc="-40" dirty="0">
                <a:latin typeface="Arial MT"/>
                <a:cs typeface="Arial MT"/>
              </a:rPr>
              <a:t> </a:t>
            </a:r>
            <a:r>
              <a:rPr sz="3950" spc="-180" dirty="0">
                <a:latin typeface="Arial MT"/>
                <a:cs typeface="Arial MT"/>
              </a:rPr>
              <a:t>detection</a:t>
            </a:r>
            <a:r>
              <a:rPr sz="3950" spc="-30" dirty="0">
                <a:latin typeface="Arial MT"/>
                <a:cs typeface="Arial MT"/>
              </a:rPr>
              <a:t> </a:t>
            </a:r>
            <a:r>
              <a:rPr sz="3950" spc="-10" dirty="0">
                <a:latin typeface="Arial MT"/>
                <a:cs typeface="Arial MT"/>
              </a:rPr>
              <a:t>range</a:t>
            </a:r>
            <a:endParaRPr sz="3950">
              <a:latin typeface="Arial MT"/>
              <a:cs typeface="Arial MT"/>
            </a:endParaRPr>
          </a:p>
          <a:p>
            <a:pPr marL="241300" indent="-230504">
              <a:lnSpc>
                <a:spcPct val="100000"/>
              </a:lnSpc>
              <a:spcBef>
                <a:spcPts val="760"/>
              </a:spcBef>
              <a:buSzPct val="124050"/>
              <a:buFont typeface="Microsoft Sans Serif"/>
              <a:buChar char="•"/>
              <a:tabLst>
                <a:tab pos="241300" algn="l"/>
              </a:tabLst>
            </a:pPr>
            <a:r>
              <a:rPr sz="3950" spc="-355" dirty="0">
                <a:latin typeface="Arial MT"/>
                <a:cs typeface="Arial MT"/>
              </a:rPr>
              <a:t>Basic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spc="-365" dirty="0">
                <a:latin typeface="Arial MT"/>
                <a:cs typeface="Arial MT"/>
              </a:rPr>
              <a:t>sound</a:t>
            </a:r>
            <a:r>
              <a:rPr sz="3950" spc="15" dirty="0">
                <a:latin typeface="Arial MT"/>
                <a:cs typeface="Arial MT"/>
              </a:rPr>
              <a:t> </a:t>
            </a:r>
            <a:r>
              <a:rPr sz="3950" spc="-120" dirty="0">
                <a:latin typeface="Arial MT"/>
                <a:cs typeface="Arial MT"/>
              </a:rPr>
              <a:t>classification</a:t>
            </a:r>
            <a:endParaRPr sz="3950">
              <a:latin typeface="Arial MT"/>
              <a:cs typeface="Arial MT"/>
            </a:endParaRPr>
          </a:p>
          <a:p>
            <a:pPr marL="241300" indent="-230504">
              <a:lnSpc>
                <a:spcPct val="100000"/>
              </a:lnSpc>
              <a:spcBef>
                <a:spcPts val="760"/>
              </a:spcBef>
              <a:buSzPct val="124050"/>
              <a:buFont typeface="Microsoft Sans Serif"/>
              <a:buChar char="•"/>
              <a:tabLst>
                <a:tab pos="241300" algn="l"/>
              </a:tabLst>
            </a:pPr>
            <a:r>
              <a:rPr sz="3950" spc="-285" dirty="0">
                <a:latin typeface="Arial MT"/>
                <a:cs typeface="Arial MT"/>
              </a:rPr>
              <a:t>Environmental</a:t>
            </a:r>
            <a:r>
              <a:rPr sz="3950" spc="-25" dirty="0">
                <a:latin typeface="Arial MT"/>
                <a:cs typeface="Arial MT"/>
              </a:rPr>
              <a:t> </a:t>
            </a:r>
            <a:r>
              <a:rPr sz="3950" spc="-305" dirty="0">
                <a:latin typeface="Arial MT"/>
                <a:cs typeface="Arial MT"/>
              </a:rPr>
              <a:t>noise</a:t>
            </a:r>
            <a:r>
              <a:rPr sz="3950" spc="-15" dirty="0">
                <a:latin typeface="Arial MT"/>
                <a:cs typeface="Arial MT"/>
              </a:rPr>
              <a:t> </a:t>
            </a:r>
            <a:r>
              <a:rPr sz="3950" spc="-245" dirty="0">
                <a:latin typeface="Arial MT"/>
                <a:cs typeface="Arial MT"/>
              </a:rPr>
              <a:t>may</a:t>
            </a:r>
            <a:r>
              <a:rPr sz="3950" spc="-3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affect</a:t>
            </a:r>
            <a:r>
              <a:rPr sz="3950" spc="-190" dirty="0">
                <a:latin typeface="Arial MT"/>
                <a:cs typeface="Arial MT"/>
              </a:rPr>
              <a:t> </a:t>
            </a:r>
            <a:r>
              <a:rPr sz="3950" spc="-175" dirty="0">
                <a:latin typeface="Arial MT"/>
                <a:cs typeface="Arial MT"/>
              </a:rPr>
              <a:t>accuracy</a:t>
            </a:r>
            <a:endParaRPr sz="3950">
              <a:latin typeface="Arial MT"/>
              <a:cs typeface="Arial MT"/>
            </a:endParaRPr>
          </a:p>
          <a:p>
            <a:pPr marL="380365" indent="-367665">
              <a:lnSpc>
                <a:spcPct val="100000"/>
              </a:lnSpc>
              <a:spcBef>
                <a:spcPts val="1810"/>
              </a:spcBef>
              <a:buSzPct val="124050"/>
              <a:buFont typeface="Microsoft Sans Serif"/>
              <a:buChar char="•"/>
              <a:tabLst>
                <a:tab pos="380365" algn="l"/>
              </a:tabLst>
            </a:pPr>
            <a:r>
              <a:rPr sz="3950" spc="-145" dirty="0">
                <a:latin typeface="Arial MT"/>
                <a:cs typeface="Arial MT"/>
              </a:rPr>
              <a:t>Prototype-</a:t>
            </a:r>
            <a:r>
              <a:rPr sz="3950" spc="-114" dirty="0">
                <a:latin typeface="Arial MT"/>
                <a:cs typeface="Arial MT"/>
              </a:rPr>
              <a:t>level</a:t>
            </a:r>
            <a:r>
              <a:rPr sz="3950" spc="-80" dirty="0">
                <a:latin typeface="Arial MT"/>
                <a:cs typeface="Arial MT"/>
              </a:rPr>
              <a:t> </a:t>
            </a:r>
            <a:r>
              <a:rPr sz="3950" spc="-130" dirty="0">
                <a:latin typeface="Arial MT"/>
                <a:cs typeface="Arial MT"/>
              </a:rPr>
              <a:t>implementation</a:t>
            </a:r>
            <a:endParaRPr sz="395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1" y="238125"/>
            <a:ext cx="6477000" cy="15144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8180" y="404113"/>
            <a:ext cx="294132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80" dirty="0"/>
              <a:t>FUTURE</a:t>
            </a:r>
            <a:r>
              <a:rPr spc="-15" dirty="0"/>
              <a:t> </a:t>
            </a:r>
            <a:r>
              <a:rPr spc="-520" dirty="0"/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8180" y="1179658"/>
            <a:ext cx="3979545" cy="56622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0029" marR="909319" indent="-227965">
              <a:lnSpc>
                <a:spcPct val="122900"/>
              </a:lnSpc>
              <a:spcBef>
                <a:spcPts val="90"/>
              </a:spcBef>
              <a:buSzPct val="127272"/>
              <a:buFont typeface="Microsoft Sans Serif"/>
              <a:buChar char="•"/>
              <a:tabLst>
                <a:tab pos="241300" algn="l"/>
              </a:tabLst>
            </a:pPr>
            <a:r>
              <a:rPr sz="2750" spc="-120" dirty="0">
                <a:latin typeface="Arial MT"/>
                <a:cs typeface="Arial MT"/>
              </a:rPr>
              <a:t>AI</a:t>
            </a:r>
            <a:r>
              <a:rPr sz="2750" spc="-70" dirty="0">
                <a:latin typeface="Arial MT"/>
                <a:cs typeface="Arial MT"/>
              </a:rPr>
              <a:t> </a:t>
            </a:r>
            <a:r>
              <a:rPr sz="2750" spc="-80" dirty="0">
                <a:latin typeface="Arial MT"/>
                <a:cs typeface="Arial MT"/>
              </a:rPr>
              <a:t>based</a:t>
            </a:r>
            <a:r>
              <a:rPr sz="2750" spc="-85" dirty="0">
                <a:latin typeface="Arial MT"/>
                <a:cs typeface="Arial MT"/>
              </a:rPr>
              <a:t> </a:t>
            </a:r>
            <a:r>
              <a:rPr sz="2750" spc="-254" dirty="0">
                <a:latin typeface="Arial MT"/>
                <a:cs typeface="Arial MT"/>
              </a:rPr>
              <a:t>sound</a:t>
            </a:r>
            <a:r>
              <a:rPr sz="2750" spc="25" dirty="0">
                <a:latin typeface="Arial MT"/>
                <a:cs typeface="Arial MT"/>
              </a:rPr>
              <a:t> </a:t>
            </a:r>
            <a:r>
              <a:rPr sz="2750" spc="-70" dirty="0">
                <a:latin typeface="Arial MT"/>
                <a:cs typeface="Arial MT"/>
              </a:rPr>
              <a:t>and 	</a:t>
            </a:r>
            <a:r>
              <a:rPr sz="2750" spc="-50" dirty="0">
                <a:latin typeface="Arial MT"/>
                <a:cs typeface="Arial MT"/>
              </a:rPr>
              <a:t>vibration</a:t>
            </a:r>
            <a:r>
              <a:rPr sz="2750" spc="-120" dirty="0">
                <a:latin typeface="Arial MT"/>
                <a:cs typeface="Arial MT"/>
              </a:rPr>
              <a:t> </a:t>
            </a:r>
            <a:r>
              <a:rPr sz="2750" spc="-25" dirty="0">
                <a:latin typeface="Arial MT"/>
                <a:cs typeface="Arial MT"/>
              </a:rPr>
              <a:t>analysis</a:t>
            </a:r>
            <a:endParaRPr sz="2750">
              <a:latin typeface="Arial MT"/>
              <a:cs typeface="Arial MT"/>
            </a:endParaRPr>
          </a:p>
          <a:p>
            <a:pPr marL="240029" marR="5080" indent="-227965">
              <a:lnSpc>
                <a:spcPct val="122800"/>
              </a:lnSpc>
              <a:spcBef>
                <a:spcPts val="980"/>
              </a:spcBef>
              <a:buSzPct val="127272"/>
              <a:buFont typeface="Microsoft Sans Serif"/>
              <a:buChar char="•"/>
              <a:tabLst>
                <a:tab pos="241300" algn="l"/>
              </a:tabLst>
            </a:pPr>
            <a:r>
              <a:rPr sz="2750" spc="-240" dirty="0">
                <a:latin typeface="Arial MT"/>
                <a:cs typeface="Arial MT"/>
              </a:rPr>
              <a:t>Long</a:t>
            </a:r>
            <a:r>
              <a:rPr sz="2750" spc="25" dirty="0">
                <a:latin typeface="Arial MT"/>
                <a:cs typeface="Arial MT"/>
              </a:rPr>
              <a:t> </a:t>
            </a:r>
            <a:r>
              <a:rPr sz="2750" spc="-75" dirty="0">
                <a:latin typeface="Arial MT"/>
                <a:cs typeface="Arial MT"/>
              </a:rPr>
              <a:t>range</a:t>
            </a:r>
            <a:r>
              <a:rPr sz="2750" spc="-70" dirty="0">
                <a:latin typeface="Arial MT"/>
                <a:cs typeface="Arial MT"/>
              </a:rPr>
              <a:t> </a:t>
            </a:r>
            <a:r>
              <a:rPr sz="2750" spc="-195" dirty="0">
                <a:latin typeface="Arial MT"/>
                <a:cs typeface="Arial MT"/>
              </a:rPr>
              <a:t>communication 	</a:t>
            </a:r>
            <a:r>
              <a:rPr sz="2750" spc="-125" dirty="0">
                <a:latin typeface="Arial MT"/>
                <a:cs typeface="Arial MT"/>
              </a:rPr>
              <a:t>(LoRa/</a:t>
            </a:r>
            <a:r>
              <a:rPr sz="2750" spc="-55" dirty="0">
                <a:latin typeface="Arial MT"/>
                <a:cs typeface="Arial MT"/>
              </a:rPr>
              <a:t> </a:t>
            </a:r>
            <a:r>
              <a:rPr sz="2750" spc="-20" dirty="0">
                <a:latin typeface="Arial MT"/>
                <a:cs typeface="Arial MT"/>
              </a:rPr>
              <a:t>GSM)</a:t>
            </a:r>
            <a:endParaRPr sz="2750">
              <a:latin typeface="Arial MT"/>
              <a:cs typeface="Arial MT"/>
            </a:endParaRPr>
          </a:p>
          <a:p>
            <a:pPr marL="240029" marR="546735" indent="-227965">
              <a:lnSpc>
                <a:spcPct val="122900"/>
              </a:lnSpc>
              <a:spcBef>
                <a:spcPts val="975"/>
              </a:spcBef>
              <a:buSzPct val="127272"/>
              <a:buFont typeface="Microsoft Sans Serif"/>
              <a:buChar char="•"/>
              <a:tabLst>
                <a:tab pos="241300" algn="l"/>
              </a:tabLst>
            </a:pPr>
            <a:r>
              <a:rPr sz="2750" spc="-175" dirty="0">
                <a:latin typeface="Arial MT"/>
                <a:cs typeface="Arial MT"/>
              </a:rPr>
              <a:t>Thermal</a:t>
            </a:r>
            <a:r>
              <a:rPr sz="2750" spc="-15" dirty="0">
                <a:latin typeface="Arial MT"/>
                <a:cs typeface="Arial MT"/>
              </a:rPr>
              <a:t> </a:t>
            </a:r>
            <a:r>
              <a:rPr sz="2750" spc="-110" dirty="0">
                <a:latin typeface="Arial MT"/>
                <a:cs typeface="Arial MT"/>
              </a:rPr>
              <a:t>detection</a:t>
            </a:r>
            <a:r>
              <a:rPr sz="2750" spc="-30" dirty="0">
                <a:latin typeface="Arial MT"/>
                <a:cs typeface="Arial MT"/>
              </a:rPr>
              <a:t> </a:t>
            </a:r>
            <a:r>
              <a:rPr sz="2750" spc="-25" dirty="0">
                <a:latin typeface="Arial MT"/>
                <a:cs typeface="Arial MT"/>
              </a:rPr>
              <a:t>for 	</a:t>
            </a:r>
            <a:r>
              <a:rPr sz="2750" spc="-95" dirty="0">
                <a:latin typeface="Arial MT"/>
                <a:cs typeface="Arial MT"/>
              </a:rPr>
              <a:t>camouflaged </a:t>
            </a:r>
            <a:r>
              <a:rPr sz="2750" spc="-114" dirty="0">
                <a:latin typeface="Arial MT"/>
                <a:cs typeface="Arial MT"/>
              </a:rPr>
              <a:t>intruders</a:t>
            </a:r>
            <a:endParaRPr sz="2750">
              <a:latin typeface="Arial MT"/>
              <a:cs typeface="Arial MT"/>
            </a:endParaRPr>
          </a:p>
          <a:p>
            <a:pPr marL="240029" marR="548005" indent="-227965">
              <a:lnSpc>
                <a:spcPct val="122900"/>
              </a:lnSpc>
              <a:spcBef>
                <a:spcPts val="980"/>
              </a:spcBef>
              <a:buSzPct val="127272"/>
              <a:buFont typeface="Microsoft Sans Serif"/>
              <a:buChar char="•"/>
              <a:tabLst>
                <a:tab pos="241300" algn="l"/>
              </a:tabLst>
            </a:pPr>
            <a:r>
              <a:rPr sz="2750" spc="-125" dirty="0">
                <a:latin typeface="Arial MT"/>
                <a:cs typeface="Arial MT"/>
              </a:rPr>
              <a:t>Direction-</a:t>
            </a:r>
            <a:r>
              <a:rPr sz="2750" spc="-80" dirty="0">
                <a:latin typeface="Arial MT"/>
                <a:cs typeface="Arial MT"/>
              </a:rPr>
              <a:t>based</a:t>
            </a:r>
            <a:r>
              <a:rPr sz="2750" spc="-10" dirty="0">
                <a:latin typeface="Arial MT"/>
                <a:cs typeface="Arial MT"/>
              </a:rPr>
              <a:t> </a:t>
            </a:r>
            <a:r>
              <a:rPr sz="2750" spc="-60" dirty="0">
                <a:latin typeface="Arial MT"/>
                <a:cs typeface="Arial MT"/>
              </a:rPr>
              <a:t>threat 	</a:t>
            </a:r>
            <a:r>
              <a:rPr sz="2750" spc="-10" dirty="0">
                <a:latin typeface="Arial MT"/>
                <a:cs typeface="Arial MT"/>
              </a:rPr>
              <a:t>detection</a:t>
            </a:r>
            <a:endParaRPr sz="2750">
              <a:latin typeface="Arial MT"/>
              <a:cs typeface="Arial MT"/>
            </a:endParaRPr>
          </a:p>
          <a:p>
            <a:pPr marL="240029" marR="516890" indent="-227965">
              <a:lnSpc>
                <a:spcPct val="120600"/>
              </a:lnSpc>
              <a:spcBef>
                <a:spcPts val="1050"/>
              </a:spcBef>
              <a:buSzPct val="127272"/>
              <a:buFont typeface="Microsoft Sans Serif"/>
              <a:buChar char="•"/>
              <a:tabLst>
                <a:tab pos="241300" algn="l"/>
              </a:tabLst>
            </a:pPr>
            <a:r>
              <a:rPr sz="2750" spc="-90" dirty="0">
                <a:latin typeface="Arial MT"/>
                <a:cs typeface="Arial MT"/>
              </a:rPr>
              <a:t>Centralized</a:t>
            </a:r>
            <a:r>
              <a:rPr sz="2750" spc="-25" dirty="0">
                <a:latin typeface="Arial MT"/>
                <a:cs typeface="Arial MT"/>
              </a:rPr>
              <a:t> </a:t>
            </a:r>
            <a:r>
              <a:rPr sz="2750" spc="-125" dirty="0">
                <a:latin typeface="Arial MT"/>
                <a:cs typeface="Arial MT"/>
              </a:rPr>
              <a:t>monitoring 	</a:t>
            </a:r>
            <a:r>
              <a:rPr sz="2750" spc="-10" dirty="0">
                <a:latin typeface="Arial MT"/>
                <a:cs typeface="Arial MT"/>
              </a:rPr>
              <a:t>dashboard</a:t>
            </a:r>
            <a:endParaRPr sz="27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76825" y="0"/>
            <a:ext cx="7115175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9272" y="2574894"/>
            <a:ext cx="10531475" cy="336867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95"/>
              </a:spcBef>
              <a:buSzPct val="123437"/>
              <a:buFont typeface="Microsoft Sans Serif"/>
              <a:buChar char="•"/>
              <a:tabLst>
                <a:tab pos="240665" algn="l"/>
              </a:tabLst>
            </a:pPr>
            <a:r>
              <a:rPr sz="3200" spc="-120" dirty="0">
                <a:latin typeface="Arial MT"/>
                <a:cs typeface="Arial MT"/>
              </a:rPr>
              <a:t>Multi-</a:t>
            </a:r>
            <a:r>
              <a:rPr sz="3200" spc="-310" dirty="0">
                <a:latin typeface="Arial MT"/>
                <a:cs typeface="Arial MT"/>
              </a:rPr>
              <a:t>sensor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120" dirty="0">
                <a:latin typeface="Arial MT"/>
                <a:cs typeface="Arial MT"/>
              </a:rPr>
              <a:t>approach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240" dirty="0">
                <a:latin typeface="Arial MT"/>
                <a:cs typeface="Arial MT"/>
              </a:rPr>
              <a:t>improves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215" dirty="0">
                <a:latin typeface="Arial MT"/>
                <a:cs typeface="Arial MT"/>
              </a:rPr>
              <a:t>intrusion</a:t>
            </a:r>
            <a:r>
              <a:rPr sz="3200" spc="35" dirty="0">
                <a:latin typeface="Arial MT"/>
                <a:cs typeface="Arial MT"/>
              </a:rPr>
              <a:t> </a:t>
            </a:r>
            <a:r>
              <a:rPr sz="3200" spc="-160" dirty="0">
                <a:latin typeface="Arial MT"/>
                <a:cs typeface="Arial MT"/>
              </a:rPr>
              <a:t>detection</a:t>
            </a:r>
            <a:r>
              <a:rPr sz="3200" spc="3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accuracy</a:t>
            </a:r>
            <a:endParaRPr sz="32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894"/>
              </a:spcBef>
              <a:buSzPct val="123437"/>
              <a:buFont typeface="Microsoft Sans Serif"/>
              <a:buChar char="•"/>
              <a:tabLst>
                <a:tab pos="240665" algn="l"/>
              </a:tabLst>
            </a:pPr>
            <a:r>
              <a:rPr sz="3200" spc="-310" dirty="0">
                <a:latin typeface="Arial MT"/>
                <a:cs typeface="Arial MT"/>
              </a:rPr>
              <a:t>Sensor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225" dirty="0">
                <a:latin typeface="Arial MT"/>
                <a:cs typeface="Arial MT"/>
              </a:rPr>
              <a:t>fusion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spc="-190" dirty="0">
                <a:latin typeface="Arial MT"/>
                <a:cs typeface="Arial MT"/>
              </a:rPr>
              <a:t>enables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125" dirty="0">
                <a:latin typeface="Arial MT"/>
                <a:cs typeface="Arial MT"/>
              </a:rPr>
              <a:t>intelligent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spc="-90" dirty="0">
                <a:latin typeface="Arial MT"/>
                <a:cs typeface="Arial MT"/>
              </a:rPr>
              <a:t>threat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spc="-75" dirty="0">
                <a:latin typeface="Arial MT"/>
                <a:cs typeface="Arial MT"/>
              </a:rPr>
              <a:t>classification</a:t>
            </a:r>
            <a:endParaRPr sz="3200">
              <a:latin typeface="Arial MT"/>
              <a:cs typeface="Arial MT"/>
            </a:endParaRPr>
          </a:p>
          <a:p>
            <a:pPr marL="241300" marR="5080" indent="-228600">
              <a:lnSpc>
                <a:spcPct val="112500"/>
              </a:lnSpc>
              <a:spcBef>
                <a:spcPts val="300"/>
              </a:spcBef>
              <a:buSzPct val="123437"/>
              <a:buFont typeface="Microsoft Sans Serif"/>
              <a:buChar char="•"/>
              <a:tabLst>
                <a:tab pos="241300" algn="l"/>
              </a:tabLst>
            </a:pPr>
            <a:r>
              <a:rPr sz="3200" spc="-390" dirty="0">
                <a:latin typeface="Arial MT"/>
                <a:cs typeface="Arial MT"/>
              </a:rPr>
              <a:t>The</a:t>
            </a:r>
            <a:r>
              <a:rPr sz="3200" spc="40" dirty="0">
                <a:latin typeface="Arial MT"/>
                <a:cs typeface="Arial MT"/>
              </a:rPr>
              <a:t> </a:t>
            </a:r>
            <a:r>
              <a:rPr sz="3200" spc="-80" dirty="0">
                <a:latin typeface="Arial MT"/>
                <a:cs typeface="Arial MT"/>
              </a:rPr>
              <a:t>prototype</a:t>
            </a:r>
            <a:r>
              <a:rPr sz="3200" spc="-114" dirty="0">
                <a:latin typeface="Arial MT"/>
                <a:cs typeface="Arial MT"/>
              </a:rPr>
              <a:t> </a:t>
            </a:r>
            <a:r>
              <a:rPr sz="3200" spc="-235" dirty="0">
                <a:latin typeface="Arial MT"/>
                <a:cs typeface="Arial MT"/>
              </a:rPr>
              <a:t>demonstrates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are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75" dirty="0">
                <a:latin typeface="Arial MT"/>
                <a:cs typeface="Arial MT"/>
              </a:rPr>
              <a:t> </a:t>
            </a:r>
            <a:r>
              <a:rPr sz="3200" spc="-125" dirty="0">
                <a:latin typeface="Arial MT"/>
                <a:cs typeface="Arial MT"/>
              </a:rPr>
              <a:t>realistic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165" dirty="0">
                <a:latin typeface="Arial MT"/>
                <a:cs typeface="Arial MT"/>
              </a:rPr>
              <a:t>defence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spc="-145" dirty="0">
                <a:latin typeface="Arial MT"/>
                <a:cs typeface="Arial MT"/>
              </a:rPr>
              <a:t>surveillance </a:t>
            </a:r>
            <a:r>
              <a:rPr sz="3200" spc="-75" dirty="0">
                <a:latin typeface="Arial MT"/>
                <a:cs typeface="Arial MT"/>
              </a:rPr>
              <a:t>concept</a:t>
            </a:r>
            <a:endParaRPr sz="32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040"/>
              </a:spcBef>
              <a:buSzPct val="123437"/>
              <a:buFont typeface="Microsoft Sans Serif"/>
              <a:buChar char="•"/>
              <a:tabLst>
                <a:tab pos="240665" algn="l"/>
              </a:tabLst>
            </a:pPr>
            <a:r>
              <a:rPr sz="3200" spc="-155" dirty="0">
                <a:latin typeface="Arial MT"/>
                <a:cs typeface="Arial MT"/>
              </a:rPr>
              <a:t>Suitable</a:t>
            </a:r>
            <a:r>
              <a:rPr sz="3200" spc="-7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for</a:t>
            </a:r>
            <a:r>
              <a:rPr sz="3200" spc="-130" dirty="0">
                <a:latin typeface="Arial MT"/>
                <a:cs typeface="Arial MT"/>
              </a:rPr>
              <a:t> </a:t>
            </a:r>
            <a:r>
              <a:rPr sz="3200" spc="-105" dirty="0">
                <a:latin typeface="Arial MT"/>
                <a:cs typeface="Arial MT"/>
              </a:rPr>
              <a:t>further</a:t>
            </a:r>
            <a:r>
              <a:rPr sz="3200" spc="-75" dirty="0">
                <a:latin typeface="Arial MT"/>
                <a:cs typeface="Arial MT"/>
              </a:rPr>
              <a:t> </a:t>
            </a:r>
            <a:r>
              <a:rPr sz="3200" spc="-195" dirty="0">
                <a:latin typeface="Arial MT"/>
                <a:cs typeface="Arial MT"/>
              </a:rPr>
              <a:t>research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130" dirty="0">
                <a:latin typeface="Arial MT"/>
                <a:cs typeface="Arial MT"/>
              </a:rPr>
              <a:t>and</a:t>
            </a:r>
            <a:r>
              <a:rPr sz="3200" spc="-9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real</a:t>
            </a:r>
            <a:r>
              <a:rPr sz="3200" spc="-85" dirty="0">
                <a:latin typeface="Arial MT"/>
                <a:cs typeface="Arial MT"/>
              </a:rPr>
              <a:t> </a:t>
            </a:r>
            <a:r>
              <a:rPr sz="3200" spc="-50" dirty="0">
                <a:latin typeface="Arial MT"/>
                <a:cs typeface="Arial MT"/>
              </a:rPr>
              <a:t>world</a:t>
            </a:r>
            <a:r>
              <a:rPr sz="3200" spc="-110" dirty="0">
                <a:latin typeface="Arial MT"/>
                <a:cs typeface="Arial MT"/>
              </a:rPr>
              <a:t> </a:t>
            </a:r>
            <a:r>
              <a:rPr sz="3200" spc="-65" dirty="0">
                <a:latin typeface="Arial MT"/>
                <a:cs typeface="Arial MT"/>
              </a:rPr>
              <a:t>expansion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C069F4-7EB4-49EA-2C92-02100B2C0E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6" t="6666" b="6678"/>
          <a:stretch>
            <a:fillRect/>
          </a:stretch>
        </p:blipFill>
        <p:spPr>
          <a:xfrm>
            <a:off x="2819399" y="762000"/>
            <a:ext cx="6033561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169E28-EA23-86B8-A3AD-734B48168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00" y="0"/>
            <a:ext cx="12648748" cy="69400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272</TotalTime>
  <Words>755</Words>
  <Application>Microsoft Office PowerPoint</Application>
  <PresentationFormat>Widescreen</PresentationFormat>
  <Paragraphs>185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Arial MT</vt:lpstr>
      <vt:lpstr>Microsoft Sans Serif</vt:lpstr>
      <vt:lpstr>Trebuchet MS</vt:lpstr>
      <vt:lpstr>Office Theme</vt:lpstr>
      <vt:lpstr>MULTI-SENSOR BORDER TREAT DETECTION &amp; CLASSIFICATION SYSTEM</vt:lpstr>
      <vt:lpstr>PowerPoint Presentation</vt:lpstr>
      <vt:lpstr>SYLLABUS</vt:lpstr>
      <vt:lpstr>PowerPoint Presentation</vt:lpstr>
      <vt:lpstr>PowerPoint Presentation</vt:lpstr>
      <vt:lpstr>System overview</vt:lpstr>
      <vt:lpstr>PowerPoint Presentation</vt:lpstr>
      <vt:lpstr>MAIN COMPONENTS REQUIRED</vt:lpstr>
      <vt:lpstr>GROUND VIBRATION SENSOR (LAND DETECTION)</vt:lpstr>
      <vt:lpstr>Air Btast</vt:lpstr>
      <vt:lpstr>ACOUSTIC SENSOR (DRONE/BIRD DETECTION)</vt:lpstr>
      <vt:lpstr>PASSIVE DETECTION UNIT</vt:lpstr>
      <vt:lpstr>PowerPoint Presentation</vt:lpstr>
      <vt:lpstr>EMBBEDDED CONTROL UNIT</vt:lpstr>
      <vt:lpstr>SENSOR FUSION CONCEPT</vt:lpstr>
      <vt:lpstr>DECISION LOGIC</vt:lpstr>
      <vt:lpstr>THREAD LEVEL CLASSIFICATION</vt:lpstr>
      <vt:lpstr>OUTPUT AND ALERT SYSTEM</vt:lpstr>
      <vt:lpstr>PROTOTYPE MODEL DESIGN</vt:lpstr>
      <vt:lpstr>PowerPoint Presentation</vt:lpstr>
      <vt:lpstr>PowerPoint Presentation</vt:lpstr>
      <vt:lpstr>FUTURE SCOPE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jaisy sunil</cp:lastModifiedBy>
  <cp:revision>10</cp:revision>
  <dcterms:created xsi:type="dcterms:W3CDTF">2026-01-27T17:14:08Z</dcterms:created>
  <dcterms:modified xsi:type="dcterms:W3CDTF">2026-01-28T11:18:48Z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2026-01-27T00:00:00Z</vt:filetime>
  </property>
  <property fmtid="{D5CDD505-2E9C-101B-9397-08002B2CF9AE}" pid="3" name="LastSaved">
    <vt:filetime>2026-01-27T00:00:00Z</vt:filetime>
  </property>
</Properties>
</file>